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DM Sans Medium"/>
      <p:regular r:id="rId21"/>
      <p:bold r:id="rId22"/>
      <p:italic r:id="rId23"/>
      <p:boldItalic r:id="rId24"/>
    </p:embeddedFont>
    <p:embeddedFont>
      <p:font typeface="Roboto Mono"/>
      <p:regular r:id="rId25"/>
      <p:bold r:id="rId26"/>
      <p:italic r:id="rId27"/>
      <p:boldItalic r:id="rId28"/>
    </p:embeddedFont>
    <p:embeddedFont>
      <p:font typeface="Merriweather"/>
      <p:regular r:id="rId29"/>
      <p:bold r:id="rId30"/>
      <p:italic r:id="rId31"/>
      <p:boldItalic r:id="rId32"/>
    </p:embeddedFont>
    <p:embeddedFont>
      <p:font typeface="DM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06">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B42413-0C32-4C3C-8C7E-F315ED1D0C76}">
  <a:tblStyle styleId="{EFB42413-0C32-4C3C-8C7E-F315ED1D0C7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06"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DMSansMedium-bold.fntdata"/><Relationship Id="rId21" Type="http://schemas.openxmlformats.org/officeDocument/2006/relationships/font" Target="fonts/DMSansMedium-regular.fntdata"/><Relationship Id="rId24" Type="http://schemas.openxmlformats.org/officeDocument/2006/relationships/font" Target="fonts/DMSansMedium-boldItalic.fntdata"/><Relationship Id="rId23" Type="http://schemas.openxmlformats.org/officeDocument/2006/relationships/font" Target="fonts/DMSans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erriweather-italic.fntdata"/><Relationship Id="rId30" Type="http://schemas.openxmlformats.org/officeDocument/2006/relationships/font" Target="fonts/Merriweather-bold.fntdata"/><Relationship Id="rId11" Type="http://schemas.openxmlformats.org/officeDocument/2006/relationships/slide" Target="slides/slide5.xml"/><Relationship Id="rId33" Type="http://schemas.openxmlformats.org/officeDocument/2006/relationships/font" Target="fonts/DMSans-regular.fntdata"/><Relationship Id="rId10" Type="http://schemas.openxmlformats.org/officeDocument/2006/relationships/slide" Target="slides/slide4.xml"/><Relationship Id="rId32" Type="http://schemas.openxmlformats.org/officeDocument/2006/relationships/font" Target="fonts/Merriweather-boldItalic.fntdata"/><Relationship Id="rId13" Type="http://schemas.openxmlformats.org/officeDocument/2006/relationships/slide" Target="slides/slide7.xml"/><Relationship Id="rId35" Type="http://schemas.openxmlformats.org/officeDocument/2006/relationships/font" Target="fonts/DMSans-italic.fntdata"/><Relationship Id="rId12" Type="http://schemas.openxmlformats.org/officeDocument/2006/relationships/slide" Target="slides/slide6.xml"/><Relationship Id="rId34" Type="http://schemas.openxmlformats.org/officeDocument/2006/relationships/font" Target="fonts/DM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DM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4f928a43a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e4f928a43a_2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4f928a43a_2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g3e4f928a43a_2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4f928a43a_2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g3e4f928a43a_2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4f928a43a_2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e4f928a43a_2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a77cf89b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ea77cf89b4_1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a54e4826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ea54e4826c_3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a54e4826c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ea54e4826c_5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a54e4826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ea54e4826c_1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4f928a43a_2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g3e4f928a43a_2_1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4f928a43a_2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3e4f928a43a_2_1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ea54e4826c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ea54e4826c_11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a54e4826c_1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ea54e4826c_11_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a54e4826c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ea54e4826c_7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a54e4826c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ea54e4826c_13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3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11" Type="http://schemas.openxmlformats.org/officeDocument/2006/relationships/image" Target="../media/image22.png"/><Relationship Id="rId10" Type="http://schemas.openxmlformats.org/officeDocument/2006/relationships/image" Target="../media/image2.png"/><Relationship Id="rId12" Type="http://schemas.openxmlformats.org/officeDocument/2006/relationships/image" Target="../media/image17.png"/><Relationship Id="rId9"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5.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14.png"/><Relationship Id="rId7"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29.png"/><Relationship Id="rId6"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0.png"/><Relationship Id="rId5" Type="http://schemas.openxmlformats.org/officeDocument/2006/relationships/image" Target="../media/image66.png"/><Relationship Id="rId6" Type="http://schemas.openxmlformats.org/officeDocument/2006/relationships/image" Target="../media/image62.png"/><Relationship Id="rId7" Type="http://schemas.openxmlformats.org/officeDocument/2006/relationships/image" Target="../media/image6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4.png"/><Relationship Id="rId10" Type="http://schemas.openxmlformats.org/officeDocument/2006/relationships/image" Target="../media/image63.png"/><Relationship Id="rId9" Type="http://schemas.openxmlformats.org/officeDocument/2006/relationships/image" Target="../media/image31.png"/><Relationship Id="rId5" Type="http://schemas.openxmlformats.org/officeDocument/2006/relationships/image" Target="../media/image38.png"/><Relationship Id="rId6" Type="http://schemas.openxmlformats.org/officeDocument/2006/relationships/image" Target="../media/image23.png"/><Relationship Id="rId7" Type="http://schemas.openxmlformats.org/officeDocument/2006/relationships/image" Target="../media/image42.png"/><Relationship Id="rId8"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0.png"/><Relationship Id="rId5" Type="http://schemas.openxmlformats.org/officeDocument/2006/relationships/image" Target="../media/image47.png"/><Relationship Id="rId6" Type="http://schemas.openxmlformats.org/officeDocument/2006/relationships/image" Target="../media/image45.png"/><Relationship Id="rId7" Type="http://schemas.openxmlformats.org/officeDocument/2006/relationships/image" Target="../media/image43.png"/><Relationship Id="rId8"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image" Target="../media/image46.png"/><Relationship Id="rId9"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2.png"/><Relationship Id="rId7" Type="http://schemas.openxmlformats.org/officeDocument/2006/relationships/image" Target="../media/image55.png"/><Relationship Id="rId8" Type="http://schemas.openxmlformats.org/officeDocument/2006/relationships/image" Target="../media/image5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61.png"/><Relationship Id="rId10" Type="http://schemas.openxmlformats.org/officeDocument/2006/relationships/image" Target="../media/image60.png"/><Relationship Id="rId9" Type="http://schemas.openxmlformats.org/officeDocument/2006/relationships/image" Target="../media/image56.png"/><Relationship Id="rId5" Type="http://schemas.openxmlformats.org/officeDocument/2006/relationships/image" Target="../media/image58.png"/><Relationship Id="rId6" Type="http://schemas.openxmlformats.org/officeDocument/2006/relationships/image" Target="../media/image57.png"/><Relationship Id="rId7" Type="http://schemas.openxmlformats.org/officeDocument/2006/relationships/image" Target="../media/image64.png"/><Relationship Id="rId8"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260520" y="2814637"/>
            <a:ext cx="7670958" cy="586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200"/>
              <a:buFont typeface="Arial"/>
              <a:buNone/>
            </a:pPr>
            <a:r>
              <a:rPr b="1" i="0" lang="en-US" sz="4200" u="none" cap="none" strike="noStrike">
                <a:solidFill>
                  <a:srgbClr val="09477C"/>
                </a:solidFill>
                <a:latin typeface="Merriweather"/>
                <a:ea typeface="Merriweather"/>
                <a:cs typeface="Merriweather"/>
                <a:sym typeface="Merriweather"/>
              </a:rPr>
              <a:t>Meta-Learning with Reptile</a:t>
            </a:r>
            <a:endParaRPr b="0" i="0" sz="1400" u="none" cap="none" strike="noStrike">
              <a:solidFill>
                <a:srgbClr val="000000"/>
              </a:solidFill>
              <a:latin typeface="Arial"/>
              <a:ea typeface="Arial"/>
              <a:cs typeface="Arial"/>
              <a:sym typeface="Arial"/>
            </a:endParaRPr>
          </a:p>
        </p:txBody>
      </p:sp>
      <p:sp>
        <p:nvSpPr>
          <p:cNvPr id="86" name="Google Shape;86;p13"/>
          <p:cNvSpPr txBox="1"/>
          <p:nvPr/>
        </p:nvSpPr>
        <p:spPr>
          <a:xfrm>
            <a:off x="2566213" y="3591825"/>
            <a:ext cx="78513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z="1800" u="none" cap="none" strike="noStrike">
                <a:solidFill>
                  <a:srgbClr val="64748B"/>
                </a:solidFill>
                <a:latin typeface="DM Sans"/>
                <a:ea typeface="DM Sans"/>
                <a:cs typeface="DM Sans"/>
                <a:sym typeface="DM Sans"/>
              </a:rPr>
              <a:t>Fast Adaptation in Few-Shot Regression and Classification</a:t>
            </a:r>
            <a:endParaRPr b="0" i="0" sz="1400" u="none" cap="none" strike="noStrike">
              <a:solidFill>
                <a:srgbClr val="000000"/>
              </a:solidFill>
              <a:latin typeface="Arial"/>
              <a:ea typeface="Arial"/>
              <a:cs typeface="Arial"/>
              <a:sym typeface="Arial"/>
            </a:endParaRPr>
          </a:p>
        </p:txBody>
      </p:sp>
      <p:sp>
        <p:nvSpPr>
          <p:cNvPr id="87" name="Google Shape;87;p13"/>
          <p:cNvSpPr/>
          <p:nvPr/>
        </p:nvSpPr>
        <p:spPr>
          <a:xfrm>
            <a:off x="5750266" y="4114041"/>
            <a:ext cx="952500" cy="47700"/>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4279943" y="4566100"/>
            <a:ext cx="3895200" cy="1062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1" i="0" lang="en-US" sz="1500" u="none" cap="none" strike="noStrike">
                <a:solidFill>
                  <a:srgbClr val="09477C"/>
                </a:solidFill>
                <a:latin typeface="DM Sans"/>
                <a:ea typeface="DM Sans"/>
                <a:cs typeface="DM Sans"/>
                <a:sym typeface="DM Sans"/>
              </a:rPr>
              <a:t>Continual Learning Project (A/y</a:t>
            </a:r>
            <a:r>
              <a:rPr b="1" lang="en-US" sz="1500">
                <a:solidFill>
                  <a:srgbClr val="09477C"/>
                </a:solidFill>
                <a:latin typeface="DM Sans"/>
                <a:ea typeface="DM Sans"/>
                <a:cs typeface="DM Sans"/>
                <a:sym typeface="DM Sans"/>
              </a:rPr>
              <a:t> 2025-26)</a:t>
            </a:r>
            <a:endParaRPr b="1" sz="1500">
              <a:solidFill>
                <a:srgbClr val="09477C"/>
              </a:solidFill>
              <a:latin typeface="DM Sans"/>
              <a:ea typeface="DM Sans"/>
              <a:cs typeface="DM Sans"/>
              <a:sym typeface="DM Sans"/>
            </a:endParaRPr>
          </a:p>
          <a:p>
            <a:pPr indent="0" lvl="0" marL="0" marR="0" rtl="0" algn="ctr">
              <a:lnSpc>
                <a:spcPct val="100000"/>
              </a:lnSpc>
              <a:spcBef>
                <a:spcPts val="0"/>
              </a:spcBef>
              <a:spcAft>
                <a:spcPts val="0"/>
              </a:spcAft>
              <a:buClr>
                <a:srgbClr val="000000"/>
              </a:buClr>
              <a:buSzPts val="1500"/>
              <a:buFont typeface="Arial"/>
              <a:buNone/>
            </a:pPr>
            <a:r>
              <a:rPr b="1" lang="en-US" sz="1500">
                <a:solidFill>
                  <a:srgbClr val="09477C"/>
                </a:solidFill>
                <a:latin typeface="DM Sans"/>
                <a:ea typeface="DM Sans"/>
                <a:cs typeface="DM Sans"/>
                <a:sym typeface="DM Sans"/>
              </a:rPr>
              <a:t>Shaikh Asif Hossain</a:t>
            </a:r>
            <a:br>
              <a:rPr b="1" lang="en-US" sz="1500">
                <a:solidFill>
                  <a:srgbClr val="09477C"/>
                </a:solidFill>
                <a:latin typeface="DM Sans"/>
                <a:ea typeface="DM Sans"/>
                <a:cs typeface="DM Sans"/>
                <a:sym typeface="DM Sans"/>
              </a:rPr>
            </a:br>
            <a:r>
              <a:rPr b="1" lang="en-US" sz="1500">
                <a:solidFill>
                  <a:srgbClr val="09477C"/>
                </a:solidFill>
                <a:latin typeface="DM Sans"/>
                <a:ea typeface="DM Sans"/>
                <a:cs typeface="DM Sans"/>
                <a:sym typeface="DM Sans"/>
              </a:rPr>
              <a:t>  Sorana-Ioana Resiga</a:t>
            </a:r>
            <a:endParaRPr b="1" sz="1500">
              <a:solidFill>
                <a:srgbClr val="09477C"/>
              </a:solidFill>
              <a:latin typeface="DM Sans"/>
              <a:ea typeface="DM Sans"/>
              <a:cs typeface="DM Sans"/>
              <a:sym typeface="DM Sans"/>
            </a:endParaRPr>
          </a:p>
          <a:p>
            <a:pPr indent="0" lvl="0" marL="0" marR="0" rtl="0" algn="l">
              <a:lnSpc>
                <a:spcPct val="160000"/>
              </a:lnSpc>
              <a:spcBef>
                <a:spcPts val="0"/>
              </a:spcBef>
              <a:spcAft>
                <a:spcPts val="0"/>
              </a:spcAft>
              <a:buClr>
                <a:srgbClr val="000000"/>
              </a:buClr>
              <a:buSzPts val="1500"/>
              <a:buFont typeface="Arial"/>
              <a:buNone/>
            </a:pPr>
            <a:r>
              <a:t/>
            </a:r>
            <a:endParaRPr b="1" sz="1500">
              <a:solidFill>
                <a:srgbClr val="09477C"/>
              </a:solidFill>
              <a:latin typeface="DM Sans"/>
              <a:ea typeface="DM Sans"/>
              <a:cs typeface="DM Sans"/>
              <a:sym typeface="DM Sans"/>
            </a:endParaRPr>
          </a:p>
        </p:txBody>
      </p:sp>
      <p:sp>
        <p:nvSpPr>
          <p:cNvPr id="89" name="Google Shape;89;p13"/>
          <p:cNvSpPr txBox="1"/>
          <p:nvPr/>
        </p:nvSpPr>
        <p:spPr>
          <a:xfrm>
            <a:off x="4014773" y="5894800"/>
            <a:ext cx="48483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US" sz="1500" u="none" cap="none" strike="noStrike">
                <a:solidFill>
                  <a:srgbClr val="1E293B"/>
                </a:solidFill>
                <a:latin typeface="DM Sans"/>
                <a:ea typeface="DM Sans"/>
                <a:cs typeface="DM Sans"/>
                <a:sym typeface="DM Sans"/>
              </a:rPr>
              <a:t>University of Pisa | Department of </a:t>
            </a:r>
            <a:r>
              <a:rPr lang="en-US" sz="1500">
                <a:solidFill>
                  <a:srgbClr val="1E293B"/>
                </a:solidFill>
                <a:latin typeface="DM Sans"/>
                <a:ea typeface="DM Sans"/>
                <a:cs typeface="DM Sans"/>
                <a:sym typeface="DM Sans"/>
              </a:rPr>
              <a:t>Computer Science</a:t>
            </a:r>
            <a:endParaRPr b="0" i="0" sz="1400" u="none" cap="none" strike="noStrike">
              <a:solidFill>
                <a:srgbClr val="000000"/>
              </a:solidFill>
              <a:latin typeface="Arial"/>
              <a:ea typeface="Arial"/>
              <a:cs typeface="Arial"/>
              <a:sym typeface="Arial"/>
            </a:endParaRPr>
          </a:p>
        </p:txBody>
      </p:sp>
      <p:pic>
        <p:nvPicPr>
          <p:cNvPr id="90" name="Google Shape;90;p13"/>
          <p:cNvPicPr preferRelativeResize="0"/>
          <p:nvPr/>
        </p:nvPicPr>
        <p:blipFill>
          <a:blip r:embed="rId4">
            <a:alphaModFix/>
          </a:blip>
          <a:stretch>
            <a:fillRect/>
          </a:stretch>
        </p:blipFill>
        <p:spPr>
          <a:xfrm>
            <a:off x="5271561" y="484050"/>
            <a:ext cx="1911975" cy="1952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pic>
        <p:nvPicPr>
          <p:cNvPr descr="image.png" id="95" name="Google Shape;95;p14"/>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id="96" name="Google Shape;96;p1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97" name="Google Shape;97;p14"/>
          <p:cNvSpPr txBox="1"/>
          <p:nvPr/>
        </p:nvSpPr>
        <p:spPr>
          <a:xfrm>
            <a:off x="571500" y="476250"/>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09477C"/>
                </a:solidFill>
                <a:latin typeface="Merriweather"/>
                <a:ea typeface="Merriweather"/>
                <a:cs typeface="Merriweather"/>
                <a:sym typeface="Merriweather"/>
              </a:rPr>
              <a:t>Motivation: Learning to Learn</a:t>
            </a:r>
            <a:endParaRPr b="1" sz="3600">
              <a:solidFill>
                <a:srgbClr val="09477C"/>
              </a:solidFill>
              <a:latin typeface="Merriweather"/>
              <a:ea typeface="Merriweather"/>
              <a:cs typeface="Merriweather"/>
              <a:sym typeface="Merriweather"/>
            </a:endParaRPr>
          </a:p>
        </p:txBody>
      </p:sp>
      <p:sp>
        <p:nvSpPr>
          <p:cNvPr id="98" name="Google Shape;98;p14"/>
          <p:cNvSpPr/>
          <p:nvPr/>
        </p:nvSpPr>
        <p:spPr>
          <a:xfrm>
            <a:off x="571500" y="1095375"/>
            <a:ext cx="952500" cy="38100"/>
          </a:xfrm>
          <a:prstGeom prst="rect">
            <a:avLst/>
          </a:prstGeom>
          <a:solidFill>
            <a:srgbClr val="0947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9" name="Google Shape;99;p14"/>
          <p:cNvGrpSpPr/>
          <p:nvPr/>
        </p:nvGrpSpPr>
        <p:grpSpPr>
          <a:xfrm>
            <a:off x="571500" y="1524000"/>
            <a:ext cx="5238900" cy="2190900"/>
            <a:chOff x="571500" y="1524000"/>
            <a:chExt cx="5238900" cy="2190900"/>
          </a:xfrm>
        </p:grpSpPr>
        <p:sp>
          <p:nvSpPr>
            <p:cNvPr id="100" name="Google Shape;100;p14"/>
            <p:cNvSpPr/>
            <p:nvPr/>
          </p:nvSpPr>
          <p:spPr>
            <a:xfrm>
              <a:off x="571500" y="1524000"/>
              <a:ext cx="5238900" cy="2190900"/>
            </a:xfrm>
            <a:prstGeom prst="roundRect">
              <a:avLst>
                <a:gd fmla="val 434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809625" y="1666875"/>
              <a:ext cx="47625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09477C"/>
                  </a:solidFill>
                  <a:latin typeface="DM Sans"/>
                  <a:ea typeface="DM Sans"/>
                  <a:cs typeface="DM Sans"/>
                  <a:sym typeface="DM Sans"/>
                </a:rPr>
                <a:t>The Meta-Learning Objective</a:t>
              </a:r>
              <a:endParaRPr b="1" sz="1300">
                <a:solidFill>
                  <a:srgbClr val="09477C"/>
                </a:solidFill>
                <a:latin typeface="DM Sans"/>
                <a:ea typeface="DM Sans"/>
                <a:cs typeface="DM Sans"/>
                <a:sym typeface="DM Sans"/>
              </a:endParaRPr>
            </a:p>
            <a:p>
              <a:pPr indent="0" lvl="0" marL="0" rtl="0" algn="l">
                <a:spcBef>
                  <a:spcPts val="600"/>
                </a:spcBef>
                <a:spcAft>
                  <a:spcPts val="0"/>
                </a:spcAft>
                <a:buNone/>
              </a:pPr>
              <a:r>
                <a:rPr lang="en-US" sz="1300">
                  <a:solidFill>
                    <a:srgbClr val="1E293B"/>
                  </a:solidFill>
                  <a:latin typeface="DM Sans"/>
                  <a:ea typeface="DM Sans"/>
                  <a:cs typeface="DM Sans"/>
                  <a:sym typeface="DM Sans"/>
                </a:rPr>
                <a:t>Deep learning models usually require large amounts of labelled data. In contrast, humans learn from few examples.</a:t>
              </a:r>
              <a:endParaRPr sz="1300">
                <a:solidFill>
                  <a:srgbClr val="1E293B"/>
                </a:solidFill>
                <a:latin typeface="DM Sans"/>
                <a:ea typeface="DM Sans"/>
                <a:cs typeface="DM Sans"/>
                <a:sym typeface="DM Sans"/>
              </a:endParaRPr>
            </a:p>
            <a:p>
              <a:pPr indent="0" lvl="0" marL="0" rtl="0" algn="l">
                <a:spcBef>
                  <a:spcPts val="750"/>
                </a:spcBef>
                <a:spcAft>
                  <a:spcPts val="0"/>
                </a:spcAft>
                <a:buNone/>
              </a:pPr>
              <a:r>
                <a:rPr lang="en-US" sz="1300">
                  <a:solidFill>
                    <a:srgbClr val="1E293B"/>
                  </a:solidFill>
                  <a:latin typeface="DM Sans"/>
                  <a:ea typeface="DM Sans"/>
                  <a:cs typeface="DM Sans"/>
                  <a:sym typeface="DM Sans"/>
                </a:rPr>
                <a:t>Meta-learning aims to learn an </a:t>
              </a:r>
              <a:r>
                <a:rPr b="1" lang="en-US" sz="1300">
                  <a:solidFill>
                    <a:srgbClr val="1E293B"/>
                  </a:solidFill>
                  <a:latin typeface="DM Sans"/>
                  <a:ea typeface="DM Sans"/>
                  <a:cs typeface="DM Sans"/>
                  <a:sym typeface="DM Sans"/>
                </a:rPr>
                <a:t>initialisation</a:t>
              </a:r>
              <a:r>
                <a:rPr b="1" lang="en-US" sz="1300">
                  <a:solidFill>
                    <a:srgbClr val="1E293B"/>
                  </a:solidFill>
                  <a:latin typeface="DM Sans"/>
                  <a:ea typeface="DM Sans"/>
                  <a:cs typeface="DM Sans"/>
                  <a:sym typeface="DM Sans"/>
                </a:rPr>
                <a:t> or procedure</a:t>
              </a:r>
              <a:r>
                <a:rPr lang="en-US" sz="1300">
                  <a:solidFill>
                    <a:srgbClr val="1E293B"/>
                  </a:solidFill>
                  <a:latin typeface="DM Sans"/>
                  <a:ea typeface="DM Sans"/>
                  <a:cs typeface="DM Sans"/>
                  <a:sym typeface="DM Sans"/>
                </a:rPr>
                <a:t> that adapts quickly to new tasks from a related distribution.</a:t>
              </a:r>
              <a:endParaRPr sz="1300">
                <a:solidFill>
                  <a:srgbClr val="1E293B"/>
                </a:solidFill>
                <a:latin typeface="DM Sans"/>
                <a:ea typeface="DM Sans"/>
                <a:cs typeface="DM Sans"/>
                <a:sym typeface="DM Sans"/>
              </a:endParaRPr>
            </a:p>
          </p:txBody>
        </p:sp>
      </p:grpSp>
      <p:grpSp>
        <p:nvGrpSpPr>
          <p:cNvPr id="102" name="Google Shape;102;p14"/>
          <p:cNvGrpSpPr/>
          <p:nvPr/>
        </p:nvGrpSpPr>
        <p:grpSpPr>
          <a:xfrm>
            <a:off x="571503" y="4000500"/>
            <a:ext cx="5239436" cy="762000"/>
            <a:chOff x="571500" y="4000500"/>
            <a:chExt cx="11049000" cy="762000"/>
          </a:xfrm>
        </p:grpSpPr>
        <p:sp>
          <p:nvSpPr>
            <p:cNvPr id="103" name="Google Shape;103;p14"/>
            <p:cNvSpPr/>
            <p:nvPr/>
          </p:nvSpPr>
          <p:spPr>
            <a:xfrm>
              <a:off x="571500" y="4000500"/>
              <a:ext cx="11049000" cy="762000"/>
            </a:xfrm>
            <a:prstGeom prst="roundRect">
              <a:avLst>
                <a:gd fmla="val 1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4"/>
            <p:cNvSpPr txBox="1"/>
            <p:nvPr/>
          </p:nvSpPr>
          <p:spPr>
            <a:xfrm>
              <a:off x="809625" y="4095750"/>
              <a:ext cx="10572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09477C"/>
                  </a:solidFill>
                  <a:latin typeface="DM Sans"/>
                  <a:ea typeface="DM Sans"/>
                  <a:cs typeface="DM Sans"/>
                  <a:sym typeface="DM Sans"/>
                </a:rPr>
                <a:t>Experiments:</a:t>
              </a:r>
              <a:r>
                <a:rPr lang="en-US" sz="1200">
                  <a:solidFill>
                    <a:srgbClr val="334155"/>
                  </a:solidFill>
                  <a:latin typeface="DM Sans"/>
                  <a:ea typeface="DM Sans"/>
                  <a:cs typeface="DM Sans"/>
                  <a:sym typeface="DM Sans"/>
                </a:rPr>
                <a:t> Sine Wave Regression &amp; Omniglot Classification </a:t>
              </a:r>
              <a:endParaRPr sz="1200">
                <a:solidFill>
                  <a:srgbClr val="334155"/>
                </a:solidFill>
                <a:latin typeface="DM Sans"/>
                <a:ea typeface="DM Sans"/>
                <a:cs typeface="DM Sans"/>
                <a:sym typeface="DM Sans"/>
              </a:endParaRPr>
            </a:p>
          </p:txBody>
        </p:sp>
      </p:grpSp>
      <p:pic>
        <p:nvPicPr>
          <p:cNvPr id="105" name="Google Shape;105;p14"/>
          <p:cNvPicPr preferRelativeResize="0"/>
          <p:nvPr/>
        </p:nvPicPr>
        <p:blipFill>
          <a:blip r:embed="rId5">
            <a:alphaModFix/>
          </a:blip>
          <a:stretch>
            <a:fillRect/>
          </a:stretch>
        </p:blipFill>
        <p:spPr>
          <a:xfrm>
            <a:off x="5810400" y="918350"/>
            <a:ext cx="6381602" cy="3591583"/>
          </a:xfrm>
          <a:prstGeom prst="rect">
            <a:avLst/>
          </a:prstGeom>
          <a:noFill/>
          <a:ln>
            <a:noFill/>
          </a:ln>
        </p:spPr>
      </p:pic>
      <p:grpSp>
        <p:nvGrpSpPr>
          <p:cNvPr id="106" name="Google Shape;106;p14"/>
          <p:cNvGrpSpPr/>
          <p:nvPr/>
        </p:nvGrpSpPr>
        <p:grpSpPr>
          <a:xfrm>
            <a:off x="571500" y="4953000"/>
            <a:ext cx="11049000" cy="1524000"/>
            <a:chOff x="571500" y="4953000"/>
            <a:chExt cx="11049000" cy="1524000"/>
          </a:xfrm>
        </p:grpSpPr>
        <p:sp>
          <p:nvSpPr>
            <p:cNvPr id="107" name="Google Shape;107;p14"/>
            <p:cNvSpPr/>
            <p:nvPr/>
          </p:nvSpPr>
          <p:spPr>
            <a:xfrm>
              <a:off x="571500" y="4953000"/>
              <a:ext cx="11049000" cy="1524000"/>
            </a:xfrm>
            <a:prstGeom prst="roundRect">
              <a:avLst>
                <a:gd fmla="val 6250" name="adj"/>
              </a:avLst>
            </a:prstGeom>
            <a:solidFill>
              <a:srgbClr val="FFFFFF"/>
            </a:solidFill>
            <a:ln cap="flat" cmpd="sng" w="19050">
              <a:solidFill>
                <a:srgbClr val="09477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4"/>
            <p:cNvSpPr txBox="1"/>
            <p:nvPr/>
          </p:nvSpPr>
          <p:spPr>
            <a:xfrm>
              <a:off x="809625" y="5095875"/>
              <a:ext cx="105729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9477C"/>
                  </a:solidFill>
                  <a:latin typeface="DM Sans"/>
                  <a:ea typeface="DM Sans"/>
                  <a:cs typeface="DM Sans"/>
                  <a:sym typeface="DM Sans"/>
                </a:rPr>
                <a:t>Main Project Goals</a:t>
              </a:r>
              <a:endParaRPr b="1" sz="1200">
                <a:solidFill>
                  <a:srgbClr val="09477C"/>
                </a:solidFill>
                <a:latin typeface="DM Sans"/>
                <a:ea typeface="DM Sans"/>
                <a:cs typeface="DM Sans"/>
                <a:sym typeface="DM Sans"/>
              </a:endParaRPr>
            </a:p>
            <a:p>
              <a:pPr indent="-304800" lvl="0" marL="457200" rtl="0" algn="l">
                <a:spcBef>
                  <a:spcPts val="750"/>
                </a:spcBef>
                <a:spcAft>
                  <a:spcPts val="0"/>
                </a:spcAft>
                <a:buClr>
                  <a:srgbClr val="1E293B"/>
                </a:buClr>
                <a:buSzPts val="1200"/>
                <a:buFont typeface="DM Sans"/>
                <a:buChar char="●"/>
              </a:pPr>
              <a:r>
                <a:rPr lang="en-US" sz="1200">
                  <a:solidFill>
                    <a:srgbClr val="1E293B"/>
                  </a:solidFill>
                  <a:latin typeface="DM Sans"/>
                  <a:ea typeface="DM Sans"/>
                  <a:cs typeface="DM Sans"/>
                  <a:sym typeface="DM Sans"/>
                </a:rPr>
                <a:t>Understand theory and intuition behind Reptile</a:t>
              </a:r>
              <a:endParaRPr sz="1200">
                <a:solidFill>
                  <a:srgbClr val="1E293B"/>
                </a:solidFill>
                <a:latin typeface="DM Sans"/>
                <a:ea typeface="DM Sans"/>
                <a:cs typeface="DM Sans"/>
                <a:sym typeface="DM Sans"/>
              </a:endParaRPr>
            </a:p>
            <a:p>
              <a:pPr indent="-304800" lvl="0" marL="457200" rtl="0" algn="l">
                <a:spcBef>
                  <a:spcPts val="300"/>
                </a:spcBef>
                <a:spcAft>
                  <a:spcPts val="0"/>
                </a:spcAft>
                <a:buClr>
                  <a:srgbClr val="1E293B"/>
                </a:buClr>
                <a:buSzPts val="1200"/>
                <a:buFont typeface="DM Sans"/>
                <a:buChar char="●"/>
              </a:pPr>
              <a:r>
                <a:rPr lang="en-US" sz="1200">
                  <a:solidFill>
                    <a:srgbClr val="1E293B"/>
                  </a:solidFill>
                  <a:latin typeface="DM Sans"/>
                  <a:ea typeface="DM Sans"/>
                  <a:cs typeface="DM Sans"/>
                  <a:sym typeface="DM Sans"/>
                </a:rPr>
                <a:t>Implement inner-loop and outer-loop update mechanisms</a:t>
              </a:r>
              <a:endParaRPr sz="1200">
                <a:solidFill>
                  <a:srgbClr val="1E293B"/>
                </a:solidFill>
                <a:latin typeface="DM Sans"/>
                <a:ea typeface="DM Sans"/>
                <a:cs typeface="DM Sans"/>
                <a:sym typeface="DM Sans"/>
              </a:endParaRPr>
            </a:p>
            <a:p>
              <a:pPr indent="-304800" lvl="0" marL="457200" rtl="0" algn="l">
                <a:spcBef>
                  <a:spcPts val="300"/>
                </a:spcBef>
                <a:spcAft>
                  <a:spcPts val="0"/>
                </a:spcAft>
                <a:buClr>
                  <a:srgbClr val="1E293B"/>
                </a:buClr>
                <a:buSzPts val="1200"/>
                <a:buFont typeface="DM Sans"/>
                <a:buChar char="●"/>
              </a:pPr>
              <a:r>
                <a:rPr lang="en-US" sz="1200">
                  <a:solidFill>
                    <a:srgbClr val="1E293B"/>
                  </a:solidFill>
                  <a:latin typeface="DM Sans"/>
                  <a:ea typeface="DM Sans"/>
                  <a:cs typeface="DM Sans"/>
                  <a:sym typeface="DM Sans"/>
                </a:rPr>
                <a:t>Evaluate on sine wave regression and Omniglot few-shot classification</a:t>
              </a:r>
              <a:endParaRPr sz="1200">
                <a:solidFill>
                  <a:srgbClr val="1E293B"/>
                </a:solidFill>
                <a:latin typeface="DM Sans"/>
                <a:ea typeface="DM Sans"/>
                <a:cs typeface="DM Sans"/>
                <a:sym typeface="DM Sans"/>
              </a:endParaRPr>
            </a:p>
            <a:p>
              <a:pPr indent="-304800" lvl="0" marL="457200" rtl="0" algn="l">
                <a:spcBef>
                  <a:spcPts val="300"/>
                </a:spcBef>
                <a:spcAft>
                  <a:spcPts val="300"/>
                </a:spcAft>
                <a:buClr>
                  <a:srgbClr val="1E293B"/>
                </a:buClr>
                <a:buSzPts val="1200"/>
                <a:buFont typeface="DM Sans"/>
                <a:buChar char="●"/>
              </a:pPr>
              <a:r>
                <a:rPr lang="en-US" sz="1200">
                  <a:solidFill>
                    <a:srgbClr val="1E293B"/>
                  </a:solidFill>
                  <a:latin typeface="DM Sans"/>
                  <a:ea typeface="DM Sans"/>
                  <a:cs typeface="DM Sans"/>
                  <a:sym typeface="DM Sans"/>
                </a:rPr>
                <a:t>Compare hyperparameter configurations and analyze inner-loop semantics</a:t>
              </a:r>
              <a:endParaRPr sz="1200">
                <a:solidFill>
                  <a:srgbClr val="1E293B"/>
                </a:solidFill>
                <a:latin typeface="DM Sans"/>
                <a:ea typeface="DM Sans"/>
                <a:cs typeface="DM Sans"/>
                <a:sym typeface="DM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pic>
        <p:nvPicPr>
          <p:cNvPr id="113" name="Google Shape;113;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4" name="Google Shape;114;p15"/>
          <p:cNvSpPr txBox="1"/>
          <p:nvPr/>
        </p:nvSpPr>
        <p:spPr>
          <a:xfrm>
            <a:off x="571500" y="476250"/>
            <a:ext cx="7620000" cy="51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330">
                <a:solidFill>
                  <a:srgbClr val="09477C"/>
                </a:solidFill>
                <a:latin typeface="Merriweather"/>
                <a:ea typeface="Merriweather"/>
                <a:cs typeface="Merriweather"/>
                <a:sym typeface="Merriweather"/>
              </a:rPr>
              <a:t>Theory: Meta &amp; Few-Shot Learning</a:t>
            </a:r>
            <a:endParaRPr b="1" sz="3330">
              <a:solidFill>
                <a:srgbClr val="09477C"/>
              </a:solidFill>
              <a:latin typeface="Merriweather"/>
              <a:ea typeface="Merriweather"/>
              <a:cs typeface="Merriweather"/>
              <a:sym typeface="Merriweather"/>
            </a:endParaRPr>
          </a:p>
        </p:txBody>
      </p:sp>
      <p:sp>
        <p:nvSpPr>
          <p:cNvPr id="115" name="Google Shape;115;p15"/>
          <p:cNvSpPr/>
          <p:nvPr/>
        </p:nvSpPr>
        <p:spPr>
          <a:xfrm>
            <a:off x="571500" y="1095375"/>
            <a:ext cx="952500" cy="38100"/>
          </a:xfrm>
          <a:prstGeom prst="rect">
            <a:avLst/>
          </a:prstGeom>
          <a:solidFill>
            <a:srgbClr val="0947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6" name="Google Shape;116;p15"/>
          <p:cNvGrpSpPr/>
          <p:nvPr/>
        </p:nvGrpSpPr>
        <p:grpSpPr>
          <a:xfrm>
            <a:off x="571500" y="1524000"/>
            <a:ext cx="3524400" cy="4572000"/>
            <a:chOff x="571500" y="1524000"/>
            <a:chExt cx="3524400" cy="4572000"/>
          </a:xfrm>
        </p:grpSpPr>
        <p:sp>
          <p:nvSpPr>
            <p:cNvPr id="117" name="Google Shape;117;p15"/>
            <p:cNvSpPr/>
            <p:nvPr/>
          </p:nvSpPr>
          <p:spPr>
            <a:xfrm>
              <a:off x="571500" y="1524000"/>
              <a:ext cx="3524400" cy="4572000"/>
            </a:xfrm>
            <a:prstGeom prst="roundRect">
              <a:avLst>
                <a:gd fmla="val 27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5"/>
            <p:cNvSpPr txBox="1"/>
            <p:nvPr/>
          </p:nvSpPr>
          <p:spPr>
            <a:xfrm>
              <a:off x="809625" y="1762125"/>
              <a:ext cx="30480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9477C"/>
                  </a:solidFill>
                  <a:latin typeface="Merriweather"/>
                  <a:ea typeface="Merriweather"/>
                  <a:cs typeface="Merriweather"/>
                  <a:sym typeface="Merriweather"/>
                </a:rPr>
                <a:t>Meta-Learning</a:t>
              </a:r>
              <a:endParaRPr b="1" sz="1800">
                <a:solidFill>
                  <a:srgbClr val="09477C"/>
                </a:solidFill>
                <a:latin typeface="Merriweather"/>
                <a:ea typeface="Merriweather"/>
                <a:cs typeface="Merriweather"/>
                <a:sym typeface="Merriweather"/>
              </a:endParaRPr>
            </a:p>
            <a:p>
              <a:pPr indent="0" lvl="0" marL="0" rtl="0" algn="l">
                <a:spcBef>
                  <a:spcPts val="900"/>
                </a:spcBef>
                <a:spcAft>
                  <a:spcPts val="0"/>
                </a:spcAft>
                <a:buNone/>
              </a:pPr>
              <a:r>
                <a:rPr b="1" lang="en-US" sz="1300">
                  <a:solidFill>
                    <a:srgbClr val="1E293B"/>
                  </a:solidFill>
                  <a:latin typeface="DM Sans"/>
                  <a:ea typeface="DM Sans"/>
                  <a:cs typeface="DM Sans"/>
                  <a:sym typeface="DM Sans"/>
                </a:rPr>
                <a:t>Learns from a distribution of tasks rather than a single task.</a:t>
              </a:r>
              <a:endParaRPr b="1" sz="1300">
                <a:solidFill>
                  <a:srgbClr val="1E293B"/>
                </a:solidFill>
                <a:latin typeface="DM Sans"/>
                <a:ea typeface="DM Sans"/>
                <a:cs typeface="DM Sans"/>
                <a:sym typeface="DM Sans"/>
              </a:endParaRPr>
            </a:p>
            <a:p>
              <a:pPr indent="0" lvl="0" marL="0" rtl="0" algn="l">
                <a:spcBef>
                  <a:spcPts val="750"/>
                </a:spcBef>
                <a:spcAft>
                  <a:spcPts val="0"/>
                </a:spcAft>
                <a:buNone/>
              </a:pPr>
              <a:r>
                <a:rPr b="0" lang="en-US" sz="1100">
                  <a:solidFill>
                    <a:srgbClr val="475569"/>
                  </a:solidFill>
                  <a:latin typeface="DM Sans"/>
                  <a:ea typeface="DM Sans"/>
                  <a:cs typeface="DM Sans"/>
                  <a:sym typeface="DM Sans"/>
                </a:rPr>
                <a:t>Goal: Quick adaptation to new tasks using few examples.</a:t>
              </a:r>
              <a:endParaRPr b="0" sz="1100">
                <a:solidFill>
                  <a:srgbClr val="475569"/>
                </a:solidFill>
                <a:latin typeface="DM Sans"/>
                <a:ea typeface="DM Sans"/>
                <a:cs typeface="DM Sans"/>
                <a:sym typeface="DM Sans"/>
              </a:endParaRPr>
            </a:p>
            <a:p>
              <a:pPr indent="0" lvl="0" marL="0" rtl="0" algn="l">
                <a:spcBef>
                  <a:spcPts val="1125"/>
                </a:spcBef>
                <a:spcAft>
                  <a:spcPts val="0"/>
                </a:spcAft>
                <a:buNone/>
              </a:pPr>
              <a:r>
                <a:rPr b="1" lang="en-US" sz="1200">
                  <a:solidFill>
                    <a:srgbClr val="09477C"/>
                  </a:solidFill>
                  <a:latin typeface="DM Sans"/>
                  <a:ea typeface="DM Sans"/>
                  <a:cs typeface="DM Sans"/>
                  <a:sym typeface="DM Sans"/>
                </a:rPr>
                <a:t>For each sampled task:</a:t>
              </a:r>
              <a:endParaRPr b="1" sz="1200">
                <a:solidFill>
                  <a:srgbClr val="09477C"/>
                </a:solidFill>
                <a:latin typeface="DM Sans"/>
                <a:ea typeface="DM Sans"/>
                <a:cs typeface="DM Sans"/>
                <a:sym typeface="DM Sans"/>
              </a:endParaRPr>
            </a:p>
            <a:p>
              <a:pPr indent="-298450" lvl="0" marL="457200" rtl="0" algn="l">
                <a:spcBef>
                  <a:spcPts val="600"/>
                </a:spcBef>
                <a:spcAft>
                  <a:spcPts val="0"/>
                </a:spcAft>
                <a:buClr>
                  <a:srgbClr val="1E293B"/>
                </a:buClr>
                <a:buSzPts val="1100"/>
                <a:buFont typeface="DM Sans"/>
                <a:buChar char="●"/>
              </a:pPr>
              <a:r>
                <a:rPr lang="en-US" sz="1100">
                  <a:solidFill>
                    <a:srgbClr val="1E293B"/>
                  </a:solidFill>
                  <a:latin typeface="DM Sans"/>
                  <a:ea typeface="DM Sans"/>
                  <a:cs typeface="DM Sans"/>
                  <a:sym typeface="DM Sans"/>
                </a:rPr>
                <a:t>Start from initialization (φ)</a:t>
              </a:r>
              <a:endParaRPr sz="1100">
                <a:solidFill>
                  <a:srgbClr val="1E293B"/>
                </a:solidFill>
                <a:latin typeface="DM Sans"/>
                <a:ea typeface="DM Sans"/>
                <a:cs typeface="DM Sans"/>
                <a:sym typeface="DM Sans"/>
              </a:endParaRPr>
            </a:p>
            <a:p>
              <a:pPr indent="-298450" lvl="0" marL="457200" rtl="0" algn="l">
                <a:spcBef>
                  <a:spcPts val="600"/>
                </a:spcBef>
                <a:spcAft>
                  <a:spcPts val="0"/>
                </a:spcAft>
                <a:buClr>
                  <a:srgbClr val="1E293B"/>
                </a:buClr>
                <a:buSzPts val="1100"/>
                <a:buFont typeface="DM Sans"/>
                <a:buChar char="●"/>
              </a:pPr>
              <a:r>
                <a:rPr lang="en-US" sz="1100">
                  <a:solidFill>
                    <a:srgbClr val="1E293B"/>
                  </a:solidFill>
                  <a:latin typeface="DM Sans"/>
                  <a:ea typeface="DM Sans"/>
                  <a:cs typeface="DM Sans"/>
                  <a:sym typeface="DM Sans"/>
                </a:rPr>
                <a:t>Adapt to task-specific parameters (φ̃)</a:t>
              </a:r>
              <a:endParaRPr sz="1100">
                <a:solidFill>
                  <a:srgbClr val="1E293B"/>
                </a:solidFill>
                <a:latin typeface="DM Sans"/>
                <a:ea typeface="DM Sans"/>
                <a:cs typeface="DM Sans"/>
                <a:sym typeface="DM Sans"/>
              </a:endParaRPr>
            </a:p>
            <a:p>
              <a:pPr indent="-298450" lvl="0" marL="457200" rtl="0" algn="l">
                <a:spcBef>
                  <a:spcPts val="600"/>
                </a:spcBef>
                <a:spcAft>
                  <a:spcPts val="0"/>
                </a:spcAft>
                <a:buClr>
                  <a:srgbClr val="1E293B"/>
                </a:buClr>
                <a:buSzPts val="1100"/>
                <a:buFont typeface="DM Sans"/>
                <a:buChar char="●"/>
              </a:pPr>
              <a:r>
                <a:rPr lang="en-US" sz="1100">
                  <a:solidFill>
                    <a:srgbClr val="1E293B"/>
                  </a:solidFill>
                  <a:latin typeface="DM Sans"/>
                  <a:ea typeface="DM Sans"/>
                  <a:cs typeface="DM Sans"/>
                  <a:sym typeface="DM Sans"/>
                </a:rPr>
                <a:t>Evaluate on unseen query samples</a:t>
              </a:r>
              <a:endParaRPr sz="1100">
                <a:solidFill>
                  <a:srgbClr val="1E293B"/>
                </a:solidFill>
                <a:latin typeface="DM Sans"/>
                <a:ea typeface="DM Sans"/>
                <a:cs typeface="DM Sans"/>
                <a:sym typeface="DM Sans"/>
              </a:endParaRPr>
            </a:p>
          </p:txBody>
        </p:sp>
      </p:grpSp>
      <p:grpSp>
        <p:nvGrpSpPr>
          <p:cNvPr id="119" name="Google Shape;119;p15"/>
          <p:cNvGrpSpPr/>
          <p:nvPr/>
        </p:nvGrpSpPr>
        <p:grpSpPr>
          <a:xfrm>
            <a:off x="4333875" y="1524000"/>
            <a:ext cx="3524400" cy="4572000"/>
            <a:chOff x="4333875" y="1524000"/>
            <a:chExt cx="3524400" cy="4572000"/>
          </a:xfrm>
        </p:grpSpPr>
        <p:sp>
          <p:nvSpPr>
            <p:cNvPr id="120" name="Google Shape;120;p15"/>
            <p:cNvSpPr/>
            <p:nvPr/>
          </p:nvSpPr>
          <p:spPr>
            <a:xfrm>
              <a:off x="4333875" y="1524000"/>
              <a:ext cx="3524400" cy="4572000"/>
            </a:xfrm>
            <a:prstGeom prst="roundRect">
              <a:avLst>
                <a:gd fmla="val 2702" name="adj"/>
              </a:avLst>
            </a:prstGeom>
            <a:solidFill>
              <a:srgbClr val="0947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5"/>
            <p:cNvSpPr txBox="1"/>
            <p:nvPr/>
          </p:nvSpPr>
          <p:spPr>
            <a:xfrm>
              <a:off x="4572000" y="1762125"/>
              <a:ext cx="30480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Merriweather"/>
                  <a:ea typeface="Merriweather"/>
                  <a:cs typeface="Merriweather"/>
                  <a:sym typeface="Merriweather"/>
                </a:rPr>
                <a:t>Few-Shot Learning</a:t>
              </a:r>
              <a:endParaRPr b="1" sz="1800">
                <a:solidFill>
                  <a:srgbClr val="FFFFFF"/>
                </a:solidFill>
                <a:latin typeface="Merriweather"/>
                <a:ea typeface="Merriweather"/>
                <a:cs typeface="Merriweather"/>
                <a:sym typeface="Merriweather"/>
              </a:endParaRPr>
            </a:p>
            <a:p>
              <a:pPr indent="0" lvl="0" marL="0" rtl="0" algn="l">
                <a:spcBef>
                  <a:spcPts val="900"/>
                </a:spcBef>
                <a:spcAft>
                  <a:spcPts val="0"/>
                </a:spcAft>
                <a:buNone/>
              </a:pPr>
              <a:r>
                <a:rPr b="1" lang="en-US" sz="1300">
                  <a:solidFill>
                    <a:srgbClr val="CBD5E1"/>
                  </a:solidFill>
                  <a:latin typeface="DM Sans"/>
                  <a:ea typeface="DM Sans"/>
                  <a:cs typeface="DM Sans"/>
                  <a:sym typeface="DM Sans"/>
                </a:rPr>
                <a:t>N-way K-shot Tasks</a:t>
              </a:r>
              <a:endParaRPr b="1" sz="1300">
                <a:solidFill>
                  <a:srgbClr val="CBD5E1"/>
                </a:solidFill>
                <a:latin typeface="DM Sans"/>
                <a:ea typeface="DM Sans"/>
                <a:cs typeface="DM Sans"/>
                <a:sym typeface="DM Sans"/>
              </a:endParaRPr>
            </a:p>
            <a:p>
              <a:pPr indent="-298450" lvl="0" marL="457200" rtl="0" algn="l">
                <a:spcBef>
                  <a:spcPts val="750"/>
                </a:spcBef>
                <a:spcAft>
                  <a:spcPts val="0"/>
                </a:spcAft>
                <a:buClr>
                  <a:srgbClr val="FFFFFF"/>
                </a:buClr>
                <a:buSzPts val="1100"/>
                <a:buFont typeface="DM Sans"/>
                <a:buChar char="●"/>
              </a:pPr>
              <a:r>
                <a:rPr b="1" lang="en-US" sz="1100">
                  <a:solidFill>
                    <a:srgbClr val="FFFFFF"/>
                  </a:solidFill>
                  <a:latin typeface="DM Sans"/>
                  <a:ea typeface="DM Sans"/>
                  <a:cs typeface="DM Sans"/>
                  <a:sym typeface="DM Sans"/>
                </a:rPr>
                <a:t>N</a:t>
              </a:r>
              <a:r>
                <a:rPr lang="en-US" sz="1100">
                  <a:solidFill>
                    <a:srgbClr val="FFFFFF"/>
                  </a:solidFill>
                  <a:latin typeface="DM Sans"/>
                  <a:ea typeface="DM Sans"/>
                  <a:cs typeface="DM Sans"/>
                  <a:sym typeface="DM Sans"/>
                </a:rPr>
                <a:t> = number of classes per task</a:t>
              </a:r>
              <a:endParaRPr sz="1100">
                <a:solidFill>
                  <a:srgbClr val="FFFFFF"/>
                </a:solidFill>
                <a:latin typeface="DM Sans"/>
                <a:ea typeface="DM Sans"/>
                <a:cs typeface="DM Sans"/>
                <a:sym typeface="DM Sans"/>
              </a:endParaRPr>
            </a:p>
            <a:p>
              <a:pPr indent="-298450" lvl="0" marL="457200" rtl="0" algn="l">
                <a:spcBef>
                  <a:spcPts val="375"/>
                </a:spcBef>
                <a:spcAft>
                  <a:spcPts val="0"/>
                </a:spcAft>
                <a:buClr>
                  <a:srgbClr val="FFFFFF"/>
                </a:buClr>
                <a:buSzPts val="1100"/>
                <a:buFont typeface="DM Sans"/>
                <a:buChar char="●"/>
              </a:pPr>
              <a:r>
                <a:rPr b="1" lang="en-US" sz="1100">
                  <a:solidFill>
                    <a:srgbClr val="FFFFFF"/>
                  </a:solidFill>
                  <a:latin typeface="DM Sans"/>
                  <a:ea typeface="DM Sans"/>
                  <a:cs typeface="DM Sans"/>
                  <a:sym typeface="DM Sans"/>
                </a:rPr>
                <a:t>K</a:t>
              </a:r>
              <a:r>
                <a:rPr lang="en-US" sz="1100">
                  <a:solidFill>
                    <a:srgbClr val="FFFFFF"/>
                  </a:solidFill>
                  <a:latin typeface="DM Sans"/>
                  <a:ea typeface="DM Sans"/>
                  <a:cs typeface="DM Sans"/>
                  <a:sym typeface="DM Sans"/>
                </a:rPr>
                <a:t> = support examples per class</a:t>
              </a:r>
              <a:endParaRPr sz="1100">
                <a:solidFill>
                  <a:srgbClr val="FFFFFF"/>
                </a:solidFill>
                <a:latin typeface="DM Sans"/>
                <a:ea typeface="DM Sans"/>
                <a:cs typeface="DM Sans"/>
                <a:sym typeface="DM Sans"/>
              </a:endParaRPr>
            </a:p>
            <a:p>
              <a:pPr indent="0" lvl="0" marL="0" rtl="0" algn="l">
                <a:spcBef>
                  <a:spcPts val="1125"/>
                </a:spcBef>
                <a:spcAft>
                  <a:spcPts val="0"/>
                </a:spcAft>
                <a:buNone/>
              </a:pPr>
              <a:r>
                <a:rPr b="1" lang="en-US" sz="1200">
                  <a:solidFill>
                    <a:srgbClr val="CBD5E1"/>
                  </a:solidFill>
                  <a:latin typeface="DM Sans"/>
                  <a:ea typeface="DM Sans"/>
                  <a:cs typeface="DM Sans"/>
                  <a:sym typeface="DM Sans"/>
                </a:rPr>
                <a:t>Example: 5-way 5-shot</a:t>
              </a:r>
              <a:endParaRPr b="1" sz="1200">
                <a:solidFill>
                  <a:srgbClr val="CBD5E1"/>
                </a:solidFill>
                <a:latin typeface="DM Sans"/>
                <a:ea typeface="DM Sans"/>
                <a:cs typeface="DM Sans"/>
                <a:sym typeface="DM Sans"/>
              </a:endParaRPr>
            </a:p>
            <a:p>
              <a:pPr indent="-298450" lvl="0" marL="457200" rtl="0" algn="l">
                <a:spcBef>
                  <a:spcPts val="600"/>
                </a:spcBef>
                <a:spcAft>
                  <a:spcPts val="0"/>
                </a:spcAft>
                <a:buClr>
                  <a:srgbClr val="FFFFFF"/>
                </a:buClr>
                <a:buSzPts val="1100"/>
                <a:buFont typeface="DM Sans"/>
                <a:buChar char="●"/>
              </a:pPr>
              <a:r>
                <a:rPr lang="en-US" sz="1100">
                  <a:solidFill>
                    <a:srgbClr val="FFFFFF"/>
                  </a:solidFill>
                  <a:latin typeface="DM Sans"/>
                  <a:ea typeface="DM Sans"/>
                  <a:cs typeface="DM Sans"/>
                  <a:sym typeface="DM Sans"/>
                </a:rPr>
                <a:t>5 classes</a:t>
              </a:r>
              <a:endParaRPr sz="1100">
                <a:solidFill>
                  <a:srgbClr val="FFFFFF"/>
                </a:solidFill>
                <a:latin typeface="DM Sans"/>
                <a:ea typeface="DM Sans"/>
                <a:cs typeface="DM Sans"/>
                <a:sym typeface="DM Sans"/>
              </a:endParaRPr>
            </a:p>
            <a:p>
              <a:pPr indent="-298450" lvl="0" marL="457200" rtl="0" algn="l">
                <a:spcBef>
                  <a:spcPts val="375"/>
                </a:spcBef>
                <a:spcAft>
                  <a:spcPts val="0"/>
                </a:spcAft>
                <a:buClr>
                  <a:srgbClr val="FFFFFF"/>
                </a:buClr>
                <a:buSzPts val="1100"/>
                <a:buFont typeface="DM Sans"/>
                <a:buChar char="●"/>
              </a:pPr>
              <a:r>
                <a:rPr lang="en-US" sz="1100">
                  <a:solidFill>
                    <a:srgbClr val="FFFFFF"/>
                  </a:solidFill>
                  <a:latin typeface="DM Sans"/>
                  <a:ea typeface="DM Sans"/>
                  <a:cs typeface="DM Sans"/>
                  <a:sym typeface="DM Sans"/>
                </a:rPr>
                <a:t>5 labeled examples per class</a:t>
              </a:r>
              <a:endParaRPr sz="1100">
                <a:solidFill>
                  <a:srgbClr val="FFFFFF"/>
                </a:solidFill>
                <a:latin typeface="DM Sans"/>
                <a:ea typeface="DM Sans"/>
                <a:cs typeface="DM Sans"/>
                <a:sym typeface="DM Sans"/>
              </a:endParaRPr>
            </a:p>
            <a:p>
              <a:pPr indent="-298450" lvl="0" marL="457200" rtl="0" algn="l">
                <a:spcBef>
                  <a:spcPts val="375"/>
                </a:spcBef>
                <a:spcAft>
                  <a:spcPts val="0"/>
                </a:spcAft>
                <a:buClr>
                  <a:srgbClr val="FFFFFF"/>
                </a:buClr>
                <a:buSzPts val="1100"/>
                <a:buFont typeface="DM Sans"/>
                <a:buChar char="●"/>
              </a:pPr>
              <a:r>
                <a:rPr lang="en-US" sz="1100">
                  <a:solidFill>
                    <a:srgbClr val="FFFFFF"/>
                  </a:solidFill>
                  <a:latin typeface="DM Sans"/>
                  <a:ea typeface="DM Sans"/>
                  <a:cs typeface="DM Sans"/>
                  <a:sym typeface="DM Sans"/>
                </a:rPr>
                <a:t>25 support images total</a:t>
              </a:r>
              <a:endParaRPr sz="1100">
                <a:solidFill>
                  <a:srgbClr val="FFFFFF"/>
                </a:solidFill>
                <a:latin typeface="DM Sans"/>
                <a:ea typeface="DM Sans"/>
                <a:cs typeface="DM Sans"/>
                <a:sym typeface="DM Sans"/>
              </a:endParaRPr>
            </a:p>
          </p:txBody>
        </p:sp>
      </p:grpSp>
      <p:grpSp>
        <p:nvGrpSpPr>
          <p:cNvPr id="122" name="Google Shape;122;p15"/>
          <p:cNvGrpSpPr/>
          <p:nvPr/>
        </p:nvGrpSpPr>
        <p:grpSpPr>
          <a:xfrm>
            <a:off x="8096250" y="1524000"/>
            <a:ext cx="3524400" cy="4572000"/>
            <a:chOff x="8096250" y="1524000"/>
            <a:chExt cx="3524400" cy="4572000"/>
          </a:xfrm>
        </p:grpSpPr>
        <p:sp>
          <p:nvSpPr>
            <p:cNvPr id="123" name="Google Shape;123;p15"/>
            <p:cNvSpPr/>
            <p:nvPr/>
          </p:nvSpPr>
          <p:spPr>
            <a:xfrm>
              <a:off x="8096250" y="1524000"/>
              <a:ext cx="3524400" cy="4572000"/>
            </a:xfrm>
            <a:prstGeom prst="roundRect">
              <a:avLst>
                <a:gd fmla="val 2702"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5"/>
            <p:cNvSpPr txBox="1"/>
            <p:nvPr/>
          </p:nvSpPr>
          <p:spPr>
            <a:xfrm>
              <a:off x="8334375" y="1762125"/>
              <a:ext cx="30480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9477C"/>
                  </a:solidFill>
                  <a:latin typeface="Merriweather"/>
                  <a:ea typeface="Merriweather"/>
                  <a:cs typeface="Merriweather"/>
                  <a:sym typeface="Merriweather"/>
                </a:rPr>
                <a:t>Omniglot Experiments</a:t>
              </a:r>
              <a:endParaRPr b="1" sz="1800">
                <a:solidFill>
                  <a:srgbClr val="09477C"/>
                </a:solidFill>
                <a:latin typeface="Merriweather"/>
                <a:ea typeface="Merriweather"/>
                <a:cs typeface="Merriweather"/>
                <a:sym typeface="Merriweather"/>
              </a:endParaRPr>
            </a:p>
            <a:p>
              <a:pPr indent="0" lvl="0" marL="0" rtl="0" algn="l">
                <a:spcBef>
                  <a:spcPts val="900"/>
                </a:spcBef>
                <a:spcAft>
                  <a:spcPts val="0"/>
                </a:spcAft>
                <a:buNone/>
              </a:pPr>
              <a:r>
                <a:rPr b="0" lang="en-US" sz="1100">
                  <a:solidFill>
                    <a:srgbClr val="475569"/>
                  </a:solidFill>
                  <a:latin typeface="DM Sans"/>
                  <a:ea typeface="DM Sans"/>
                  <a:cs typeface="DM Sans"/>
                  <a:sym typeface="DM Sans"/>
                </a:rPr>
                <a:t>Evaluating various configurations:</a:t>
              </a:r>
              <a:endParaRPr b="0" sz="1100">
                <a:solidFill>
                  <a:srgbClr val="475569"/>
                </a:solidFill>
                <a:latin typeface="DM Sans"/>
                <a:ea typeface="DM Sans"/>
                <a:cs typeface="DM Sans"/>
                <a:sym typeface="DM Sans"/>
              </a:endParaRPr>
            </a:p>
            <a:p>
              <a:pPr indent="-292100" lvl="0" marL="457200" rtl="0" algn="l">
                <a:spcBef>
                  <a:spcPts val="750"/>
                </a:spcBef>
                <a:spcAft>
                  <a:spcPts val="0"/>
                </a:spcAft>
                <a:buClr>
                  <a:schemeClr val="dk1"/>
                </a:buClr>
                <a:buSzPts val="1000"/>
                <a:buFont typeface="DM Sans"/>
                <a:buChar char="●"/>
              </a:pPr>
              <a:r>
                <a:rPr b="1" lang="en-US" sz="1200">
                  <a:solidFill>
                    <a:srgbClr val="1E293B"/>
                  </a:solidFill>
                  <a:latin typeface="DM Sans"/>
                  <a:ea typeface="DM Sans"/>
                  <a:cs typeface="DM Sans"/>
                  <a:sym typeface="DM Sans"/>
                </a:rPr>
                <a:t>5-way 1-shot</a:t>
              </a:r>
              <a:endParaRPr b="1" sz="1200">
                <a:solidFill>
                  <a:srgbClr val="1E293B"/>
                </a:solidFill>
                <a:latin typeface="DM Sans"/>
                <a:ea typeface="DM Sans"/>
                <a:cs typeface="DM Sans"/>
                <a:sym typeface="DM Sans"/>
              </a:endParaRPr>
            </a:p>
            <a:p>
              <a:pPr indent="-292100" lvl="0" marL="457200" rtl="0" algn="l">
                <a:spcBef>
                  <a:spcPts val="900"/>
                </a:spcBef>
                <a:spcAft>
                  <a:spcPts val="0"/>
                </a:spcAft>
                <a:buClr>
                  <a:schemeClr val="dk1"/>
                </a:buClr>
                <a:buSzPts val="1000"/>
                <a:buFont typeface="DM Sans"/>
                <a:buChar char="●"/>
              </a:pPr>
              <a:r>
                <a:rPr b="1" lang="en-US" sz="1200">
                  <a:solidFill>
                    <a:srgbClr val="1E293B"/>
                  </a:solidFill>
                  <a:latin typeface="DM Sans"/>
                  <a:ea typeface="DM Sans"/>
                  <a:cs typeface="DM Sans"/>
                  <a:sym typeface="DM Sans"/>
                </a:rPr>
                <a:t>5-way 5-shot</a:t>
              </a:r>
              <a:endParaRPr b="1" sz="1200">
                <a:solidFill>
                  <a:srgbClr val="1E293B"/>
                </a:solidFill>
                <a:latin typeface="DM Sans"/>
                <a:ea typeface="DM Sans"/>
                <a:cs typeface="DM Sans"/>
                <a:sym typeface="DM Sans"/>
              </a:endParaRPr>
            </a:p>
            <a:p>
              <a:pPr indent="-292100" lvl="0" marL="457200" rtl="0" algn="l">
                <a:spcBef>
                  <a:spcPts val="900"/>
                </a:spcBef>
                <a:spcAft>
                  <a:spcPts val="0"/>
                </a:spcAft>
                <a:buClr>
                  <a:schemeClr val="dk1"/>
                </a:buClr>
                <a:buSzPts val="1000"/>
                <a:buFont typeface="DM Sans"/>
                <a:buChar char="●"/>
              </a:pPr>
              <a:r>
                <a:rPr b="1" lang="en-US" sz="1200">
                  <a:solidFill>
                    <a:srgbClr val="1E293B"/>
                  </a:solidFill>
                  <a:latin typeface="DM Sans"/>
                  <a:ea typeface="DM Sans"/>
                  <a:cs typeface="DM Sans"/>
                  <a:sym typeface="DM Sans"/>
                </a:rPr>
                <a:t>20-way 1-shot</a:t>
              </a:r>
              <a:endParaRPr b="1" sz="1200">
                <a:solidFill>
                  <a:srgbClr val="1E293B"/>
                </a:solidFill>
                <a:latin typeface="DM Sans"/>
                <a:ea typeface="DM Sans"/>
                <a:cs typeface="DM Sans"/>
                <a:sym typeface="DM Sans"/>
              </a:endParaRPr>
            </a:p>
            <a:p>
              <a:pPr indent="-292100" lvl="0" marL="457200" rtl="0" algn="l">
                <a:spcBef>
                  <a:spcPts val="900"/>
                </a:spcBef>
                <a:spcAft>
                  <a:spcPts val="0"/>
                </a:spcAft>
                <a:buClr>
                  <a:schemeClr val="dk1"/>
                </a:buClr>
                <a:buSzPts val="1000"/>
                <a:buFont typeface="DM Sans"/>
                <a:buChar char="●"/>
              </a:pPr>
              <a:r>
                <a:rPr b="1" lang="en-US" sz="1200">
                  <a:solidFill>
                    <a:srgbClr val="1E293B"/>
                  </a:solidFill>
                  <a:latin typeface="DM Sans"/>
                  <a:ea typeface="DM Sans"/>
                  <a:cs typeface="DM Sans"/>
                  <a:sym typeface="DM Sans"/>
                </a:rPr>
                <a:t>20-way-5-shot </a:t>
              </a:r>
              <a:endParaRPr b="1" sz="1200">
                <a:solidFill>
                  <a:srgbClr val="1E293B"/>
                </a:solidFill>
                <a:latin typeface="DM Sans"/>
                <a:ea typeface="DM Sans"/>
                <a:cs typeface="DM Sans"/>
                <a:sym typeface="DM Sans"/>
              </a:endParaRPr>
            </a:p>
            <a:p>
              <a:pPr indent="0" lvl="0" marL="457200" rtl="0" algn="l">
                <a:spcBef>
                  <a:spcPts val="900"/>
                </a:spcBef>
                <a:spcAft>
                  <a:spcPts val="0"/>
                </a:spcAft>
                <a:buNone/>
              </a:pPr>
              <a:r>
                <a:t/>
              </a:r>
              <a:endParaRPr b="0" i="1" sz="1000">
                <a:solidFill>
                  <a:srgbClr val="64748B"/>
                </a:solidFill>
                <a:latin typeface="DM Sans"/>
                <a:ea typeface="DM Sans"/>
                <a:cs typeface="DM Sans"/>
                <a:sym typeface="DM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pic>
        <p:nvPicPr>
          <p:cNvPr id="129" name="Google Shape;129;p16"/>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30" name="Google Shape;130;p16"/>
          <p:cNvGrpSpPr/>
          <p:nvPr/>
        </p:nvGrpSpPr>
        <p:grpSpPr>
          <a:xfrm>
            <a:off x="571500" y="571500"/>
            <a:ext cx="7620000" cy="657225"/>
            <a:chOff x="571500" y="571500"/>
            <a:chExt cx="7620000" cy="657225"/>
          </a:xfrm>
        </p:grpSpPr>
        <p:sp>
          <p:nvSpPr>
            <p:cNvPr id="131" name="Google Shape;131;p16"/>
            <p:cNvSpPr txBox="1"/>
            <p:nvPr/>
          </p:nvSpPr>
          <p:spPr>
            <a:xfrm>
              <a:off x="571500" y="571500"/>
              <a:ext cx="762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790">
                  <a:solidFill>
                    <a:srgbClr val="09477C"/>
                  </a:solidFill>
                  <a:latin typeface="Merriweather"/>
                  <a:ea typeface="Merriweather"/>
                  <a:cs typeface="Merriweather"/>
                  <a:sym typeface="Merriweather"/>
                </a:rPr>
                <a:t>Reptile Algorithm: Workflow &amp; Insights</a:t>
              </a:r>
              <a:endParaRPr b="1" sz="2790">
                <a:solidFill>
                  <a:srgbClr val="09477C"/>
                </a:solidFill>
                <a:latin typeface="Merriweather"/>
                <a:ea typeface="Merriweather"/>
                <a:cs typeface="Merriweather"/>
                <a:sym typeface="Merriweather"/>
              </a:endParaRPr>
            </a:p>
          </p:txBody>
        </p:sp>
        <p:sp>
          <p:nvSpPr>
            <p:cNvPr id="132" name="Google Shape;132;p16"/>
            <p:cNvSpPr/>
            <p:nvPr/>
          </p:nvSpPr>
          <p:spPr>
            <a:xfrm>
              <a:off x="571500" y="1190625"/>
              <a:ext cx="952500" cy="38100"/>
            </a:xfrm>
            <a:prstGeom prst="rect">
              <a:avLst/>
            </a:prstGeom>
            <a:solidFill>
              <a:srgbClr val="0947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33" name="Google Shape;133;p16"/>
          <p:cNvGrpSpPr/>
          <p:nvPr/>
        </p:nvGrpSpPr>
        <p:grpSpPr>
          <a:xfrm>
            <a:off x="8320350" y="1047712"/>
            <a:ext cx="3524400" cy="5317808"/>
            <a:chOff x="4140250" y="1524000"/>
            <a:chExt cx="3524400" cy="4762500"/>
          </a:xfrm>
        </p:grpSpPr>
        <p:sp>
          <p:nvSpPr>
            <p:cNvPr id="134" name="Google Shape;134;p16"/>
            <p:cNvSpPr/>
            <p:nvPr/>
          </p:nvSpPr>
          <p:spPr>
            <a:xfrm>
              <a:off x="4140250" y="1524000"/>
              <a:ext cx="3524400" cy="4762500"/>
            </a:xfrm>
            <a:prstGeom prst="roundRect">
              <a:avLst>
                <a:gd fmla="val 27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4309825" y="1762050"/>
              <a:ext cx="3048000" cy="428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9477C"/>
                  </a:solidFill>
                  <a:latin typeface="DM Sans"/>
                  <a:ea typeface="DM Sans"/>
                  <a:cs typeface="DM Sans"/>
                  <a:sym typeface="DM Sans"/>
                </a:rPr>
                <a:t>Serial Reptile Update</a:t>
              </a:r>
              <a:endParaRPr b="1" sz="1800">
                <a:solidFill>
                  <a:srgbClr val="09477C"/>
                </a:solidFill>
                <a:latin typeface="DM Sans"/>
                <a:ea typeface="DM Sans"/>
                <a:cs typeface="DM Sans"/>
                <a:sym typeface="DM Sans"/>
              </a:endParaRPr>
            </a:p>
            <a:p>
              <a:pPr indent="0" lvl="0" marL="0" rtl="0" algn="l">
                <a:spcBef>
                  <a:spcPts val="1125"/>
                </a:spcBef>
                <a:spcAft>
                  <a:spcPts val="0"/>
                </a:spcAft>
                <a:buNone/>
              </a:pPr>
              <a:r>
                <a:rPr lang="en-US">
                  <a:solidFill>
                    <a:srgbClr val="1E293B"/>
                  </a:solidFill>
                  <a:latin typeface="DM Sans"/>
                  <a:ea typeface="DM Sans"/>
                  <a:cs typeface="DM Sans"/>
                  <a:sym typeface="DM Sans"/>
                </a:rPr>
                <a:t>1. Start from initialization ( φ )</a:t>
              </a:r>
              <a:endParaRPr>
                <a:solidFill>
                  <a:srgbClr val="1E293B"/>
                </a:solidFill>
                <a:latin typeface="DM Sans"/>
                <a:ea typeface="DM Sans"/>
                <a:cs typeface="DM Sans"/>
                <a:sym typeface="DM Sans"/>
              </a:endParaRPr>
            </a:p>
            <a:p>
              <a:pPr indent="0" lvl="0" marL="0" rtl="0" algn="l">
                <a:spcBef>
                  <a:spcPts val="600"/>
                </a:spcBef>
                <a:spcAft>
                  <a:spcPts val="0"/>
                </a:spcAft>
                <a:buNone/>
              </a:pPr>
              <a:r>
                <a:rPr lang="en-US">
                  <a:solidFill>
                    <a:srgbClr val="1E293B"/>
                  </a:solidFill>
                  <a:latin typeface="DM Sans"/>
                  <a:ea typeface="DM Sans"/>
                  <a:cs typeface="DM Sans"/>
                  <a:sym typeface="DM Sans"/>
                </a:rPr>
                <a:t>2. Sample task &amp; perform </a:t>
              </a:r>
              <a:r>
                <a:rPr b="1" lang="en-US">
                  <a:solidFill>
                    <a:srgbClr val="1E293B"/>
                  </a:solidFill>
                  <a:latin typeface="DM Sans"/>
                  <a:ea typeface="DM Sans"/>
                  <a:cs typeface="DM Sans"/>
                  <a:sym typeface="DM Sans"/>
                </a:rPr>
                <a:t>k inner-loop</a:t>
              </a:r>
              <a:r>
                <a:rPr lang="en-US">
                  <a:solidFill>
                    <a:srgbClr val="1E293B"/>
                  </a:solidFill>
                  <a:latin typeface="DM Sans"/>
                  <a:ea typeface="DM Sans"/>
                  <a:cs typeface="DM Sans"/>
                  <a:sym typeface="DM Sans"/>
                </a:rPr>
                <a:t> updates</a:t>
              </a:r>
              <a:endParaRPr>
                <a:solidFill>
                  <a:srgbClr val="1E293B"/>
                </a:solidFill>
                <a:latin typeface="DM Sans"/>
                <a:ea typeface="DM Sans"/>
                <a:cs typeface="DM Sans"/>
                <a:sym typeface="DM Sans"/>
              </a:endParaRPr>
            </a:p>
            <a:p>
              <a:pPr indent="0" lvl="0" marL="0" rtl="0" algn="l">
                <a:spcBef>
                  <a:spcPts val="600"/>
                </a:spcBef>
                <a:spcAft>
                  <a:spcPts val="0"/>
                </a:spcAft>
                <a:buNone/>
              </a:pPr>
              <a:r>
                <a:rPr lang="en-US">
                  <a:solidFill>
                    <a:srgbClr val="1E293B"/>
                  </a:solidFill>
                  <a:latin typeface="DM Sans"/>
                  <a:ea typeface="DM Sans"/>
                  <a:cs typeface="DM Sans"/>
                  <a:sym typeface="DM Sans"/>
                </a:rPr>
                <a:t>3. Obtain adapted parameters ( φ̃ )</a:t>
              </a:r>
              <a:endParaRPr>
                <a:solidFill>
                  <a:srgbClr val="1E293B"/>
                </a:solidFill>
                <a:latin typeface="DM Sans"/>
                <a:ea typeface="DM Sans"/>
                <a:cs typeface="DM Sans"/>
                <a:sym typeface="DM Sans"/>
              </a:endParaRPr>
            </a:p>
            <a:p>
              <a:pPr indent="0" lvl="0" marL="0" rtl="0" algn="l">
                <a:spcBef>
                  <a:spcPts val="600"/>
                </a:spcBef>
                <a:spcAft>
                  <a:spcPts val="0"/>
                </a:spcAft>
                <a:buNone/>
              </a:pPr>
              <a:r>
                <a:rPr lang="en-US">
                  <a:solidFill>
                    <a:srgbClr val="1E293B"/>
                  </a:solidFill>
                  <a:latin typeface="DM Sans"/>
                  <a:ea typeface="DM Sans"/>
                  <a:cs typeface="DM Sans"/>
                  <a:sym typeface="DM Sans"/>
                </a:rPr>
                <a:t>4. Update meta-parameters:</a:t>
              </a:r>
              <a:endParaRPr>
                <a:solidFill>
                  <a:srgbClr val="1E293B"/>
                </a:solidFill>
                <a:latin typeface="DM Sans"/>
                <a:ea typeface="DM Sans"/>
                <a:cs typeface="DM Sans"/>
                <a:sym typeface="DM Sans"/>
              </a:endParaRPr>
            </a:p>
            <a:p>
              <a:pPr indent="0" lvl="0" marL="0" rtl="0" algn="ctr">
                <a:spcBef>
                  <a:spcPts val="900"/>
                </a:spcBef>
                <a:spcAft>
                  <a:spcPts val="0"/>
                </a:spcAft>
                <a:buNone/>
              </a:pPr>
              <a:r>
                <a:rPr b="1" lang="en-US">
                  <a:solidFill>
                    <a:srgbClr val="1E293B"/>
                  </a:solidFill>
                  <a:highlight>
                    <a:srgbClr val="F1F5F9"/>
                  </a:highlight>
                  <a:latin typeface="Courier New"/>
                  <a:ea typeface="Courier New"/>
                  <a:cs typeface="Courier New"/>
                  <a:sym typeface="Courier New"/>
                </a:rPr>
                <a:t>φ ← φ + ε(φ̃ - φ)</a:t>
              </a:r>
              <a:endParaRPr b="1">
                <a:solidFill>
                  <a:srgbClr val="1E293B"/>
                </a:solidFill>
                <a:highlight>
                  <a:srgbClr val="F1F5F9"/>
                </a:highlight>
                <a:latin typeface="Courier New"/>
                <a:ea typeface="Courier New"/>
                <a:cs typeface="Courier New"/>
                <a:sym typeface="Courier New"/>
              </a:endParaRPr>
            </a:p>
            <a:p>
              <a:pPr indent="0" lvl="0" marL="0" rtl="0" algn="l">
                <a:spcBef>
                  <a:spcPts val="1500"/>
                </a:spcBef>
                <a:spcAft>
                  <a:spcPts val="0"/>
                </a:spcAft>
                <a:buNone/>
              </a:pPr>
              <a:r>
                <a:rPr b="0" i="1" lang="en-US">
                  <a:solidFill>
                    <a:srgbClr val="475569"/>
                  </a:solidFill>
                  <a:latin typeface="DM Sans"/>
                  <a:ea typeface="DM Sans"/>
                  <a:cs typeface="DM Sans"/>
                  <a:sym typeface="DM Sans"/>
                </a:rPr>
                <a:t>Learns an initialization that adapts quickly to new tasks.</a:t>
              </a:r>
              <a:endParaRPr b="0" i="1">
                <a:solidFill>
                  <a:srgbClr val="475569"/>
                </a:solidFill>
                <a:latin typeface="DM Sans"/>
                <a:ea typeface="DM Sans"/>
                <a:cs typeface="DM Sans"/>
                <a:sym typeface="DM Sans"/>
              </a:endParaRPr>
            </a:p>
          </p:txBody>
        </p:sp>
      </p:grpSp>
      <p:sp>
        <p:nvSpPr>
          <p:cNvPr id="136" name="Google Shape;136;p16"/>
          <p:cNvSpPr txBox="1"/>
          <p:nvPr/>
        </p:nvSpPr>
        <p:spPr>
          <a:xfrm>
            <a:off x="8558550" y="4140275"/>
            <a:ext cx="3286200" cy="222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9477C"/>
                </a:solidFill>
                <a:latin typeface="DM Sans"/>
                <a:ea typeface="DM Sans"/>
                <a:cs typeface="DM Sans"/>
                <a:sym typeface="DM Sans"/>
              </a:rPr>
              <a:t>Batched Reptile</a:t>
            </a:r>
            <a:endParaRPr b="1" sz="1800">
              <a:solidFill>
                <a:srgbClr val="09477C"/>
              </a:solidFill>
              <a:latin typeface="DM Sans"/>
              <a:ea typeface="DM Sans"/>
              <a:cs typeface="DM Sans"/>
              <a:sym typeface="DM Sans"/>
            </a:endParaRPr>
          </a:p>
          <a:p>
            <a:pPr indent="-317500" lvl="0" marL="457200" rtl="0" algn="l">
              <a:lnSpc>
                <a:spcPct val="115000"/>
              </a:lnSpc>
              <a:spcBef>
                <a:spcPts val="1200"/>
              </a:spcBef>
              <a:spcAft>
                <a:spcPts val="0"/>
              </a:spcAft>
              <a:buClr>
                <a:schemeClr val="dk1"/>
              </a:buClr>
              <a:buSzPts val="1400"/>
              <a:buAutoNum type="arabicPeriod"/>
            </a:pPr>
            <a:r>
              <a:rPr lang="en-US">
                <a:solidFill>
                  <a:schemeClr val="dk1"/>
                </a:solidFill>
              </a:rPr>
              <a:t>Sample multiple tasks in one meta-batch.</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Adapt one model copy per task using inner-loop updates.</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Update the meta-model toward the average adapted direction for a more stable Reptile update.</a:t>
            </a:r>
            <a:endParaRPr>
              <a:solidFill>
                <a:schemeClr val="dk1"/>
              </a:solidFill>
            </a:endParaRPr>
          </a:p>
          <a:p>
            <a:pPr indent="0" lvl="0" marL="0" rtl="0" algn="l">
              <a:lnSpc>
                <a:spcPct val="150000"/>
              </a:lnSpc>
              <a:spcBef>
                <a:spcPts val="1200"/>
              </a:spcBef>
              <a:spcAft>
                <a:spcPts val="0"/>
              </a:spcAft>
              <a:buNone/>
            </a:pPr>
            <a:r>
              <a:t/>
            </a:r>
            <a:endParaRPr sz="1300" u="sng">
              <a:solidFill>
                <a:srgbClr val="1E293B"/>
              </a:solidFill>
              <a:latin typeface="DM Sans"/>
              <a:ea typeface="DM Sans"/>
              <a:cs typeface="DM Sans"/>
              <a:sym typeface="DM Sans"/>
            </a:endParaRPr>
          </a:p>
        </p:txBody>
      </p:sp>
      <p:sp>
        <p:nvSpPr>
          <p:cNvPr id="137" name="Google Shape;137;p16"/>
          <p:cNvSpPr/>
          <p:nvPr/>
        </p:nvSpPr>
        <p:spPr>
          <a:xfrm>
            <a:off x="578650" y="1512125"/>
            <a:ext cx="6943800" cy="2225400"/>
          </a:xfrm>
          <a:prstGeom prst="roundRect">
            <a:avLst>
              <a:gd fmla="val 2702" name="adj"/>
            </a:avLst>
          </a:prstGeom>
          <a:solidFill>
            <a:srgbClr val="09477C"/>
          </a:solidFill>
          <a:ln cap="flat" cmpd="sng" w="19050">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571500" y="1642625"/>
            <a:ext cx="7034100" cy="151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CBD5E1"/>
                </a:solidFill>
                <a:latin typeface="DM Sans"/>
                <a:ea typeface="DM Sans"/>
                <a:cs typeface="DM Sans"/>
                <a:sym typeface="DM Sans"/>
              </a:rPr>
              <a:t>The Reptile Algorithm</a:t>
            </a:r>
            <a:endParaRPr b="1" sz="1500">
              <a:solidFill>
                <a:srgbClr val="CBD5E1"/>
              </a:solidFill>
              <a:latin typeface="DM Sans"/>
              <a:ea typeface="DM Sans"/>
              <a:cs typeface="DM Sans"/>
              <a:sym typeface="DM Sans"/>
            </a:endParaRPr>
          </a:p>
          <a:p>
            <a:pPr indent="0" lvl="0" marL="0" rtl="0" algn="l">
              <a:spcBef>
                <a:spcPts val="600"/>
              </a:spcBef>
              <a:spcAft>
                <a:spcPts val="0"/>
              </a:spcAft>
              <a:buNone/>
            </a:pPr>
            <a:r>
              <a:rPr lang="en-US" sz="1500">
                <a:solidFill>
                  <a:schemeClr val="lt1"/>
                </a:solidFill>
                <a:latin typeface="DM Sans"/>
                <a:ea typeface="DM Sans"/>
                <a:cs typeface="DM Sans"/>
                <a:sym typeface="DM Sans"/>
              </a:rPr>
              <a:t>A first-order algorithm that learns neural network parameter initialisations. It moves original weights toward task-specific weights.</a:t>
            </a:r>
            <a:endParaRPr sz="1500">
              <a:solidFill>
                <a:schemeClr val="lt1"/>
              </a:solidFill>
              <a:latin typeface="DM Sans"/>
              <a:ea typeface="DM Sans"/>
              <a:cs typeface="DM Sans"/>
              <a:sym typeface="DM Sans"/>
            </a:endParaRPr>
          </a:p>
          <a:p>
            <a:pPr indent="0" lvl="0" marL="0" rtl="0" algn="l">
              <a:spcBef>
                <a:spcPts val="750"/>
              </a:spcBef>
              <a:spcAft>
                <a:spcPts val="0"/>
              </a:spcAft>
              <a:buNone/>
            </a:pPr>
            <a:r>
              <a:rPr lang="en-US" sz="1500">
                <a:solidFill>
                  <a:schemeClr val="lt1"/>
                </a:solidFill>
                <a:latin typeface="DM Sans"/>
                <a:ea typeface="DM Sans"/>
                <a:cs typeface="DM Sans"/>
                <a:sym typeface="DM Sans"/>
              </a:rPr>
              <a:t>Computationally simpler than MAML as it avoids differentiating through the entire inner loop.</a:t>
            </a:r>
            <a:endParaRPr sz="1500">
              <a:solidFill>
                <a:schemeClr val="lt1"/>
              </a:solidFill>
              <a:latin typeface="DM Sans"/>
              <a:ea typeface="DM Sans"/>
              <a:cs typeface="DM Sans"/>
              <a:sym typeface="DM Sans"/>
            </a:endParaRPr>
          </a:p>
        </p:txBody>
      </p:sp>
      <p:pic>
        <p:nvPicPr>
          <p:cNvPr id="139" name="Google Shape;139;p16"/>
          <p:cNvPicPr preferRelativeResize="0"/>
          <p:nvPr/>
        </p:nvPicPr>
        <p:blipFill rotWithShape="1">
          <a:blip r:embed="rId4">
            <a:alphaModFix/>
          </a:blip>
          <a:srcRect b="2089" l="738" r="895" t="2089"/>
          <a:stretch/>
        </p:blipFill>
        <p:spPr>
          <a:xfrm>
            <a:off x="177975" y="4390050"/>
            <a:ext cx="7937725" cy="2313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pic>
        <p:nvPicPr>
          <p:cNvPr id="144" name="Google Shape;144;p17"/>
          <p:cNvPicPr preferRelativeResize="0"/>
          <p:nvPr/>
        </p:nvPicPr>
        <p:blipFill>
          <a:blip r:embed="rId3">
            <a:alphaModFix/>
          </a:blip>
          <a:stretch>
            <a:fillRect/>
          </a:stretch>
        </p:blipFill>
        <p:spPr>
          <a:xfrm>
            <a:off x="4375067" y="1243025"/>
            <a:ext cx="7816932" cy="4252901"/>
          </a:xfrm>
          <a:prstGeom prst="rect">
            <a:avLst/>
          </a:prstGeom>
          <a:noFill/>
          <a:ln>
            <a:noFill/>
          </a:ln>
        </p:spPr>
      </p:pic>
      <p:pic>
        <p:nvPicPr>
          <p:cNvPr descr="image.png" id="145" name="Google Shape;145;p17"/>
          <p:cNvPicPr preferRelativeResize="0"/>
          <p:nvPr/>
        </p:nvPicPr>
        <p:blipFill rotWithShape="1">
          <a:blip r:embed="rId4">
            <a:alphaModFix/>
          </a:blip>
          <a:srcRect b="0" l="0" r="0" t="0"/>
          <a:stretch/>
        </p:blipFill>
        <p:spPr>
          <a:xfrm>
            <a:off x="571500" y="1076325"/>
            <a:ext cx="4143375" cy="2943225"/>
          </a:xfrm>
          <a:prstGeom prst="rect">
            <a:avLst/>
          </a:prstGeom>
          <a:noFill/>
          <a:ln>
            <a:noFill/>
          </a:ln>
        </p:spPr>
      </p:pic>
      <p:pic>
        <p:nvPicPr>
          <p:cNvPr descr="image.png" id="146" name="Google Shape;146;p17"/>
          <p:cNvPicPr preferRelativeResize="0"/>
          <p:nvPr/>
        </p:nvPicPr>
        <p:blipFill rotWithShape="1">
          <a:blip r:embed="rId5">
            <a:alphaModFix/>
          </a:blip>
          <a:srcRect b="0" l="0" r="0" t="0"/>
          <a:stretch/>
        </p:blipFill>
        <p:spPr>
          <a:xfrm>
            <a:off x="571500" y="4152900"/>
            <a:ext cx="4143375" cy="2467800"/>
          </a:xfrm>
          <a:prstGeom prst="rect">
            <a:avLst/>
          </a:prstGeom>
          <a:noFill/>
          <a:ln>
            <a:noFill/>
          </a:ln>
        </p:spPr>
      </p:pic>
      <p:pic>
        <p:nvPicPr>
          <p:cNvPr descr="image.png" id="147" name="Google Shape;147;p17"/>
          <p:cNvPicPr preferRelativeResize="0"/>
          <p:nvPr/>
        </p:nvPicPr>
        <p:blipFill rotWithShape="1">
          <a:blip r:embed="rId6">
            <a:alphaModFix/>
          </a:blip>
          <a:srcRect b="0" l="0" r="0" t="0"/>
          <a:stretch/>
        </p:blipFill>
        <p:spPr>
          <a:xfrm>
            <a:off x="571500" y="7029450"/>
            <a:ext cx="4143375" cy="1057275"/>
          </a:xfrm>
          <a:prstGeom prst="rect">
            <a:avLst/>
          </a:prstGeom>
          <a:noFill/>
          <a:ln>
            <a:noFill/>
          </a:ln>
        </p:spPr>
      </p:pic>
      <p:sp>
        <p:nvSpPr>
          <p:cNvPr id="148" name="Google Shape;148;p17"/>
          <p:cNvSpPr txBox="1"/>
          <p:nvPr/>
        </p:nvSpPr>
        <p:spPr>
          <a:xfrm>
            <a:off x="571500" y="381000"/>
            <a:ext cx="8651081"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9477C"/>
                </a:solidFill>
                <a:latin typeface="Merriweather"/>
                <a:ea typeface="Merriweather"/>
                <a:cs typeface="Merriweather"/>
                <a:sym typeface="Merriweather"/>
              </a:rPr>
              <a:t>Sine Wave Regression: Proof-of-Concept for Reptile</a:t>
            </a:r>
            <a:endParaRPr/>
          </a:p>
        </p:txBody>
      </p:sp>
      <p:sp>
        <p:nvSpPr>
          <p:cNvPr id="149" name="Google Shape;149;p17"/>
          <p:cNvSpPr/>
          <p:nvPr/>
        </p:nvSpPr>
        <p:spPr>
          <a:xfrm>
            <a:off x="571500" y="857250"/>
            <a:ext cx="8239125"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7"/>
          <p:cNvSpPr txBox="1"/>
          <p:nvPr/>
        </p:nvSpPr>
        <p:spPr>
          <a:xfrm>
            <a:off x="5377700" y="5495925"/>
            <a:ext cx="6207300" cy="7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250" u="none" cap="none" strike="noStrike">
                <a:solidFill>
                  <a:srgbClr val="09477C"/>
                </a:solidFill>
                <a:latin typeface="DM Sans"/>
                <a:ea typeface="DM Sans"/>
                <a:cs typeface="DM Sans"/>
                <a:sym typeface="DM Sans"/>
              </a:rPr>
              <a:t>Core Takeaway:</a:t>
            </a:r>
            <a:r>
              <a:rPr b="0" i="0" lang="en-US" sz="1250" u="none" cap="none" strike="noStrike">
                <a:solidFill>
                  <a:srgbClr val="09477C"/>
                </a:solidFill>
                <a:latin typeface="DM Sans Medium"/>
                <a:ea typeface="DM Sans Medium"/>
                <a:cs typeface="DM Sans Medium"/>
                <a:sym typeface="DM Sans Medium"/>
              </a:rPr>
              <a:t> After a few localized support</a:t>
            </a:r>
            <a:r>
              <a:rPr lang="en-US" sz="1250">
                <a:solidFill>
                  <a:srgbClr val="09477C"/>
                </a:solidFill>
                <a:latin typeface="DM Sans Medium"/>
                <a:ea typeface="DM Sans Medium"/>
                <a:cs typeface="DM Sans Medium"/>
                <a:sym typeface="DM Sans Medium"/>
              </a:rPr>
              <a:t> </a:t>
            </a:r>
            <a:r>
              <a:rPr b="0" i="0" lang="en-US" sz="1250" u="none" cap="none" strike="noStrike">
                <a:solidFill>
                  <a:srgbClr val="09477C"/>
                </a:solidFill>
                <a:latin typeface="DM Sans Medium"/>
                <a:ea typeface="DM Sans Medium"/>
                <a:cs typeface="DM Sans Medium"/>
                <a:sym typeface="DM Sans Medium"/>
              </a:rPr>
              <a:t>set gradients updates, the initiali</a:t>
            </a:r>
            <a:r>
              <a:rPr lang="en-US" sz="1250">
                <a:solidFill>
                  <a:srgbClr val="09477C"/>
                </a:solidFill>
                <a:latin typeface="DM Sans Medium"/>
                <a:ea typeface="DM Sans Medium"/>
                <a:cs typeface="DM Sans Medium"/>
                <a:sym typeface="DM Sans Medium"/>
              </a:rPr>
              <a:t>s</a:t>
            </a:r>
            <a:r>
              <a:rPr b="0" i="0" lang="en-US" sz="1250" u="none" cap="none" strike="noStrike">
                <a:solidFill>
                  <a:srgbClr val="09477C"/>
                </a:solidFill>
                <a:latin typeface="DM Sans Medium"/>
                <a:ea typeface="DM Sans Medium"/>
                <a:cs typeface="DM Sans Medium"/>
                <a:sym typeface="DM Sans Medium"/>
              </a:rPr>
              <a:t>ed parameters move efficiently from a flat, generic default state (Blue Line) to track highly volatile task-specific mappings (Green Line).</a:t>
            </a:r>
            <a:endParaRPr sz="1600"/>
          </a:p>
        </p:txBody>
      </p:sp>
      <p:sp>
        <p:nvSpPr>
          <p:cNvPr id="151" name="Google Shape;151;p17"/>
          <p:cNvSpPr txBox="1"/>
          <p:nvPr/>
        </p:nvSpPr>
        <p:spPr>
          <a:xfrm>
            <a:off x="1004887" y="1276350"/>
            <a:ext cx="3685460" cy="2000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9477C"/>
                </a:solidFill>
                <a:latin typeface="DM Sans"/>
                <a:ea typeface="DM Sans"/>
                <a:cs typeface="DM Sans"/>
                <a:sym typeface="DM Sans"/>
              </a:rPr>
              <a:t>WHAT IT TESTS</a:t>
            </a:r>
            <a:endParaRPr/>
          </a:p>
        </p:txBody>
      </p:sp>
      <p:sp>
        <p:nvSpPr>
          <p:cNvPr id="152" name="Google Shape;152;p17"/>
          <p:cNvSpPr txBox="1"/>
          <p:nvPr/>
        </p:nvSpPr>
        <p:spPr>
          <a:xfrm>
            <a:off x="1042987" y="4352925"/>
            <a:ext cx="3645455" cy="2000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9477C"/>
                </a:solidFill>
                <a:latin typeface="DM Sans"/>
                <a:ea typeface="DM Sans"/>
                <a:cs typeface="DM Sans"/>
                <a:sym typeface="DM Sans"/>
              </a:rPr>
              <a:t>HOW IT WORKS</a:t>
            </a:r>
            <a:endParaRPr/>
          </a:p>
        </p:txBody>
      </p:sp>
      <p:sp>
        <p:nvSpPr>
          <p:cNvPr id="153" name="Google Shape;153;p17"/>
          <p:cNvSpPr txBox="1"/>
          <p:nvPr/>
        </p:nvSpPr>
        <p:spPr>
          <a:xfrm>
            <a:off x="957262" y="7181850"/>
            <a:ext cx="3785473" cy="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9477C"/>
                </a:solidFill>
                <a:latin typeface="DM Sans"/>
                <a:ea typeface="DM Sans"/>
                <a:cs typeface="DM Sans"/>
                <a:sym typeface="DM Sans"/>
              </a:rPr>
              <a:t>PHASE CONTROLLER</a:t>
            </a:r>
            <a:endParaRPr/>
          </a:p>
        </p:txBody>
      </p:sp>
      <p:pic>
        <p:nvPicPr>
          <p:cNvPr descr="image.png" id="154" name="Google Shape;154;p17"/>
          <p:cNvPicPr preferRelativeResize="0"/>
          <p:nvPr/>
        </p:nvPicPr>
        <p:blipFill rotWithShape="1">
          <a:blip r:embed="rId7">
            <a:alphaModFix/>
          </a:blip>
          <a:srcRect b="0" l="0" r="0" t="0"/>
          <a:stretch/>
        </p:blipFill>
        <p:spPr>
          <a:xfrm>
            <a:off x="771525" y="1300162"/>
            <a:ext cx="157162" cy="152400"/>
          </a:xfrm>
          <a:prstGeom prst="rect">
            <a:avLst/>
          </a:prstGeom>
          <a:noFill/>
          <a:ln>
            <a:noFill/>
          </a:ln>
        </p:spPr>
      </p:pic>
      <p:sp>
        <p:nvSpPr>
          <p:cNvPr id="155" name="Google Shape;155;p17"/>
          <p:cNvSpPr txBox="1"/>
          <p:nvPr/>
        </p:nvSpPr>
        <p:spPr>
          <a:xfrm>
            <a:off x="962025" y="1590675"/>
            <a:ext cx="3552900" cy="11775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1050" u="none" cap="none" strike="noStrike">
                <a:solidFill>
                  <a:srgbClr val="1E293B"/>
                </a:solidFill>
                <a:latin typeface="DM Sans"/>
                <a:ea typeface="DM Sans"/>
                <a:cs typeface="DM Sans"/>
                <a:sym typeface="DM Sans"/>
              </a:rPr>
              <a:t>Random Sine Tasks:</a:t>
            </a:r>
            <a:r>
              <a:rPr b="0" i="0" lang="en-US" sz="1050" u="none" cap="none" strike="noStrike">
                <a:solidFill>
                  <a:srgbClr val="1E293B"/>
                </a:solidFill>
                <a:latin typeface="DM Sans"/>
                <a:ea typeface="DM Sans"/>
                <a:cs typeface="DM Sans"/>
                <a:sym typeface="DM Sans"/>
              </a:rPr>
              <a:t> </a:t>
            </a:r>
            <a:r>
              <a:rPr b="1" lang="en-US" sz="1100">
                <a:solidFill>
                  <a:schemeClr val="dk1"/>
                </a:solidFill>
              </a:rPr>
              <a:t>Random Sine Tasks:</a:t>
            </a:r>
            <a:r>
              <a:rPr lang="en-US" sz="1100">
                <a:solidFill>
                  <a:schemeClr val="dk1"/>
                </a:solidFill>
              </a:rPr>
              <a:t> Each task is a different sine curve. The amplitude </a:t>
            </a:r>
            <a:r>
              <a:rPr lang="en-US" sz="1100">
                <a:solidFill>
                  <a:srgbClr val="188038"/>
                </a:solidFill>
                <a:latin typeface="Roboto Mono"/>
                <a:ea typeface="Roboto Mono"/>
                <a:cs typeface="Roboto Mono"/>
                <a:sym typeface="Roboto Mono"/>
              </a:rPr>
              <a:t>A</a:t>
            </a:r>
            <a:r>
              <a:rPr lang="en-US" sz="1100">
                <a:solidFill>
                  <a:schemeClr val="dk1"/>
                </a:solidFill>
              </a:rPr>
              <a:t> is randomly chosen from </a:t>
            </a:r>
            <a:r>
              <a:rPr lang="en-US" sz="1100">
                <a:solidFill>
                  <a:srgbClr val="188038"/>
                </a:solidFill>
                <a:latin typeface="Roboto Mono"/>
                <a:ea typeface="Roboto Mono"/>
                <a:cs typeface="Roboto Mono"/>
                <a:sym typeface="Roboto Mono"/>
              </a:rPr>
              <a:t>0.1</a:t>
            </a:r>
            <a:r>
              <a:rPr lang="en-US" sz="1100">
                <a:solidFill>
                  <a:schemeClr val="dk1"/>
                </a:solidFill>
              </a:rPr>
              <a:t> to </a:t>
            </a:r>
            <a:r>
              <a:rPr lang="en-US" sz="1100">
                <a:solidFill>
                  <a:srgbClr val="188038"/>
                </a:solidFill>
                <a:latin typeface="Roboto Mono"/>
                <a:ea typeface="Roboto Mono"/>
                <a:cs typeface="Roboto Mono"/>
                <a:sym typeface="Roboto Mono"/>
              </a:rPr>
              <a:t>5.0</a:t>
            </a:r>
            <a:r>
              <a:rPr lang="en-US" sz="1100">
                <a:solidFill>
                  <a:schemeClr val="dk1"/>
                </a:solidFill>
              </a:rPr>
              <a:t>, and the phase </a:t>
            </a:r>
            <a:r>
              <a:rPr lang="en-US" sz="1100">
                <a:solidFill>
                  <a:srgbClr val="188038"/>
                </a:solidFill>
                <a:latin typeface="Roboto Mono"/>
                <a:ea typeface="Roboto Mono"/>
                <a:cs typeface="Roboto Mono"/>
                <a:sym typeface="Roboto Mono"/>
              </a:rPr>
              <a:t>phi</a:t>
            </a:r>
            <a:r>
              <a:rPr lang="en-US" sz="1100">
                <a:solidFill>
                  <a:schemeClr val="dk1"/>
                </a:solidFill>
              </a:rPr>
              <a:t> is randomly chosen from </a:t>
            </a:r>
            <a:r>
              <a:rPr lang="en-US" sz="1100">
                <a:solidFill>
                  <a:srgbClr val="188038"/>
                </a:solidFill>
                <a:latin typeface="Roboto Mono"/>
                <a:ea typeface="Roboto Mono"/>
                <a:cs typeface="Roboto Mono"/>
                <a:sym typeface="Roboto Mono"/>
              </a:rPr>
              <a:t>0</a:t>
            </a:r>
            <a:r>
              <a:rPr lang="en-US" sz="1100">
                <a:solidFill>
                  <a:schemeClr val="dk1"/>
                </a:solidFill>
              </a:rPr>
              <a:t> to </a:t>
            </a:r>
            <a:r>
              <a:rPr lang="en-US" sz="1100">
                <a:solidFill>
                  <a:srgbClr val="188038"/>
                </a:solidFill>
                <a:latin typeface="Roboto Mono"/>
                <a:ea typeface="Roboto Mono"/>
                <a:cs typeface="Roboto Mono"/>
                <a:sym typeface="Roboto Mono"/>
              </a:rPr>
              <a:t>2π</a:t>
            </a:r>
            <a:r>
              <a:rPr lang="en-US" sz="1100">
                <a:solidFill>
                  <a:schemeClr val="dk1"/>
                </a:solidFill>
              </a:rPr>
              <a:t>.</a:t>
            </a:r>
            <a:endParaRPr sz="1100">
              <a:solidFill>
                <a:schemeClr val="dk1"/>
              </a:solidFill>
            </a:endParaRPr>
          </a:p>
          <a:p>
            <a:pPr indent="0" lvl="0" marL="0" marR="0" rtl="0" algn="l">
              <a:lnSpc>
                <a:spcPct val="150000"/>
              </a:lnSpc>
              <a:spcBef>
                <a:spcPts val="0"/>
              </a:spcBef>
              <a:spcAft>
                <a:spcPts val="0"/>
              </a:spcAft>
              <a:buNone/>
            </a:pPr>
            <a:r>
              <a:t/>
            </a:r>
            <a:endParaRPr sz="1050">
              <a:solidFill>
                <a:srgbClr val="1E293B"/>
              </a:solidFill>
              <a:latin typeface="DM Sans"/>
              <a:ea typeface="DM Sans"/>
              <a:cs typeface="DM Sans"/>
              <a:sym typeface="DM Sans"/>
            </a:endParaRPr>
          </a:p>
        </p:txBody>
      </p:sp>
      <p:sp>
        <p:nvSpPr>
          <p:cNvPr id="156" name="Google Shape;156;p17"/>
          <p:cNvSpPr txBox="1"/>
          <p:nvPr/>
        </p:nvSpPr>
        <p:spPr>
          <a:xfrm>
            <a:off x="962025" y="2609352"/>
            <a:ext cx="3552900" cy="899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Fast Adaptation:</a:t>
            </a:r>
            <a:r>
              <a:rPr lang="en-US" sz="1100">
                <a:solidFill>
                  <a:schemeClr val="dk1"/>
                </a:solidFill>
              </a:rPr>
              <a:t> Tests whether the model can quickly adapt to new sine waves instead of memorizing one fixed curve.</a:t>
            </a:r>
            <a:endParaRPr sz="1100">
              <a:solidFill>
                <a:schemeClr val="dk1"/>
              </a:solidFill>
            </a:endParaRPr>
          </a:p>
          <a:p>
            <a:pPr indent="0" lvl="0" marL="0" marR="0" rtl="0" algn="l">
              <a:lnSpc>
                <a:spcPct val="150000"/>
              </a:lnSpc>
              <a:spcBef>
                <a:spcPts val="1200"/>
              </a:spcBef>
              <a:spcAft>
                <a:spcPts val="0"/>
              </a:spcAft>
              <a:buNone/>
            </a:pPr>
            <a:r>
              <a:t/>
            </a:r>
            <a:endParaRPr b="1" sz="1050">
              <a:solidFill>
                <a:srgbClr val="1E293B"/>
              </a:solidFill>
              <a:latin typeface="DM Sans"/>
              <a:ea typeface="DM Sans"/>
              <a:cs typeface="DM Sans"/>
              <a:sym typeface="DM Sans"/>
            </a:endParaRPr>
          </a:p>
        </p:txBody>
      </p:sp>
      <p:sp>
        <p:nvSpPr>
          <p:cNvPr id="157" name="Google Shape;157;p17"/>
          <p:cNvSpPr txBox="1"/>
          <p:nvPr/>
        </p:nvSpPr>
        <p:spPr>
          <a:xfrm>
            <a:off x="962025" y="3261901"/>
            <a:ext cx="3552900" cy="899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Support/Query Setup:</a:t>
            </a:r>
            <a:r>
              <a:rPr lang="en-US" sz="1100">
                <a:solidFill>
                  <a:schemeClr val="dk1"/>
                </a:solidFill>
              </a:rPr>
              <a:t> The model adapts on a small support set and is evaluated on query points, testing few-shot generalization.</a:t>
            </a:r>
            <a:endParaRPr sz="1100">
              <a:solidFill>
                <a:schemeClr val="dk1"/>
              </a:solidFill>
            </a:endParaRPr>
          </a:p>
          <a:p>
            <a:pPr indent="0" lvl="0" marL="0" marR="0" rtl="0" algn="l">
              <a:lnSpc>
                <a:spcPct val="150000"/>
              </a:lnSpc>
              <a:spcBef>
                <a:spcPts val="1200"/>
              </a:spcBef>
              <a:spcAft>
                <a:spcPts val="0"/>
              </a:spcAft>
              <a:buNone/>
            </a:pPr>
            <a:r>
              <a:t/>
            </a:r>
            <a:endParaRPr b="1" sz="1050">
              <a:solidFill>
                <a:srgbClr val="1E293B"/>
              </a:solidFill>
              <a:latin typeface="DM Sans"/>
              <a:ea typeface="DM Sans"/>
              <a:cs typeface="DM Sans"/>
              <a:sym typeface="DM Sans"/>
            </a:endParaRPr>
          </a:p>
        </p:txBody>
      </p:sp>
      <p:pic>
        <p:nvPicPr>
          <p:cNvPr descr="image.png" id="158" name="Google Shape;158;p17"/>
          <p:cNvPicPr preferRelativeResize="0"/>
          <p:nvPr/>
        </p:nvPicPr>
        <p:blipFill rotWithShape="1">
          <a:blip r:embed="rId8">
            <a:alphaModFix/>
          </a:blip>
          <a:srcRect b="0" l="0" r="0" t="0"/>
          <a:stretch/>
        </p:blipFill>
        <p:spPr>
          <a:xfrm>
            <a:off x="771525" y="4376737"/>
            <a:ext cx="195262" cy="152400"/>
          </a:xfrm>
          <a:prstGeom prst="rect">
            <a:avLst/>
          </a:prstGeom>
          <a:noFill/>
          <a:ln>
            <a:noFill/>
          </a:ln>
        </p:spPr>
      </p:pic>
      <p:sp>
        <p:nvSpPr>
          <p:cNvPr id="159" name="Google Shape;159;p17"/>
          <p:cNvSpPr txBox="1"/>
          <p:nvPr/>
        </p:nvSpPr>
        <p:spPr>
          <a:xfrm>
            <a:off x="962025" y="4667250"/>
            <a:ext cx="3552900" cy="899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Lightweight Model:</a:t>
            </a:r>
            <a:r>
              <a:rPr lang="en-US" sz="1100">
                <a:solidFill>
                  <a:schemeClr val="dk1"/>
                </a:solidFill>
              </a:rPr>
              <a:t> A small MLP with architecture </a:t>
            </a:r>
            <a:r>
              <a:rPr lang="en-US" sz="1100">
                <a:solidFill>
                  <a:srgbClr val="188038"/>
                </a:solidFill>
                <a:latin typeface="Roboto Mono"/>
                <a:ea typeface="Roboto Mono"/>
                <a:cs typeface="Roboto Mono"/>
                <a:sym typeface="Roboto Mono"/>
              </a:rPr>
              <a:t>1 → 64 → 64 → 1</a:t>
            </a:r>
            <a:r>
              <a:rPr lang="en-US" sz="1100">
                <a:solidFill>
                  <a:schemeClr val="dk1"/>
                </a:solidFill>
              </a:rPr>
              <a:t> was used, allowing fast adaptation on each sine wave task.</a:t>
            </a:r>
            <a:endParaRPr sz="1100">
              <a:solidFill>
                <a:schemeClr val="dk1"/>
              </a:solidFill>
            </a:endParaRPr>
          </a:p>
          <a:p>
            <a:pPr indent="0" lvl="0" marL="0" marR="0" rtl="0" algn="l">
              <a:lnSpc>
                <a:spcPct val="150000"/>
              </a:lnSpc>
              <a:spcBef>
                <a:spcPts val="1200"/>
              </a:spcBef>
              <a:spcAft>
                <a:spcPts val="0"/>
              </a:spcAft>
              <a:buNone/>
            </a:pPr>
            <a:r>
              <a:t/>
            </a:r>
            <a:endParaRPr b="1" sz="1050">
              <a:solidFill>
                <a:srgbClr val="1E293B"/>
              </a:solidFill>
              <a:latin typeface="DM Sans"/>
              <a:ea typeface="DM Sans"/>
              <a:cs typeface="DM Sans"/>
              <a:sym typeface="DM Sans"/>
            </a:endParaRPr>
          </a:p>
        </p:txBody>
      </p:sp>
      <p:sp>
        <p:nvSpPr>
          <p:cNvPr id="160" name="Google Shape;160;p17"/>
          <p:cNvSpPr txBox="1"/>
          <p:nvPr/>
        </p:nvSpPr>
        <p:spPr>
          <a:xfrm>
            <a:off x="962025" y="5343525"/>
            <a:ext cx="3552900" cy="899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Inner Optimization:</a:t>
            </a:r>
            <a:r>
              <a:rPr lang="en-US" sz="1100">
                <a:solidFill>
                  <a:schemeClr val="dk1"/>
                </a:solidFill>
              </a:rPr>
              <a:t> The copied model is adapted on the support points using vanilla SGD, with MSE as the regression loss.</a:t>
            </a:r>
            <a:endParaRPr sz="1100">
              <a:solidFill>
                <a:schemeClr val="dk1"/>
              </a:solidFill>
            </a:endParaRPr>
          </a:p>
          <a:p>
            <a:pPr indent="0" lvl="0" marL="0" marR="0" rtl="0" algn="l">
              <a:lnSpc>
                <a:spcPct val="150000"/>
              </a:lnSpc>
              <a:spcBef>
                <a:spcPts val="1200"/>
              </a:spcBef>
              <a:spcAft>
                <a:spcPts val="0"/>
              </a:spcAft>
              <a:buNone/>
            </a:pPr>
            <a:r>
              <a:t/>
            </a:r>
            <a:endParaRPr b="1" sz="1050">
              <a:solidFill>
                <a:srgbClr val="1E293B"/>
              </a:solidFill>
              <a:latin typeface="DM Sans"/>
              <a:ea typeface="DM Sans"/>
              <a:cs typeface="DM Sans"/>
              <a:sym typeface="DM Sans"/>
            </a:endParaRPr>
          </a:p>
        </p:txBody>
      </p:sp>
      <p:sp>
        <p:nvSpPr>
          <p:cNvPr id="161" name="Google Shape;161;p17"/>
          <p:cNvSpPr txBox="1"/>
          <p:nvPr/>
        </p:nvSpPr>
        <p:spPr>
          <a:xfrm>
            <a:off x="962025" y="6019800"/>
            <a:ext cx="3552900" cy="899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Outer Optimization:</a:t>
            </a:r>
            <a:r>
              <a:rPr lang="en-US" sz="1100">
                <a:solidFill>
                  <a:schemeClr val="dk1"/>
                </a:solidFill>
              </a:rPr>
              <a:t> The original model is updated by moving its parameters toward the adapted model parameters using the first-order Reptile update.</a:t>
            </a:r>
            <a:endParaRPr sz="1100">
              <a:solidFill>
                <a:schemeClr val="dk1"/>
              </a:solidFill>
            </a:endParaRPr>
          </a:p>
          <a:p>
            <a:pPr indent="0" lvl="0" marL="0" marR="0" rtl="0" algn="l">
              <a:lnSpc>
                <a:spcPct val="150000"/>
              </a:lnSpc>
              <a:spcBef>
                <a:spcPts val="1200"/>
              </a:spcBef>
              <a:spcAft>
                <a:spcPts val="0"/>
              </a:spcAft>
              <a:buNone/>
            </a:pPr>
            <a:r>
              <a:t/>
            </a:r>
            <a:endParaRPr b="1" sz="1050">
              <a:solidFill>
                <a:srgbClr val="1E293B"/>
              </a:solidFill>
              <a:latin typeface="DM Sans"/>
              <a:ea typeface="DM Sans"/>
              <a:cs typeface="DM Sans"/>
              <a:sym typeface="DM Sans"/>
            </a:endParaRPr>
          </a:p>
        </p:txBody>
      </p:sp>
      <p:pic>
        <p:nvPicPr>
          <p:cNvPr descr="image.png" id="162" name="Google Shape;162;p17"/>
          <p:cNvPicPr preferRelativeResize="0"/>
          <p:nvPr/>
        </p:nvPicPr>
        <p:blipFill rotWithShape="1">
          <a:blip r:embed="rId9">
            <a:alphaModFix/>
          </a:blip>
          <a:srcRect b="0" l="0" r="0" t="0"/>
          <a:stretch/>
        </p:blipFill>
        <p:spPr>
          <a:xfrm>
            <a:off x="723900" y="7205662"/>
            <a:ext cx="157162" cy="152400"/>
          </a:xfrm>
          <a:prstGeom prst="rect">
            <a:avLst/>
          </a:prstGeom>
          <a:noFill/>
          <a:ln>
            <a:noFill/>
          </a:ln>
        </p:spPr>
      </p:pic>
      <p:sp>
        <p:nvSpPr>
          <p:cNvPr id="163" name="Google Shape;163;p17"/>
          <p:cNvSpPr txBox="1"/>
          <p:nvPr/>
        </p:nvSpPr>
        <p:spPr>
          <a:xfrm>
            <a:off x="5298800" y="1139063"/>
            <a:ext cx="63651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477C"/>
                </a:solidFill>
                <a:latin typeface="DM Sans"/>
                <a:ea typeface="DM Sans"/>
                <a:cs typeface="DM Sans"/>
                <a:sym typeface="DM Sans"/>
              </a:rPr>
              <a:t>Reptile Parameter Optimization Tracking Viewport</a:t>
            </a:r>
            <a:endParaRPr/>
          </a:p>
        </p:txBody>
      </p:sp>
      <p:pic>
        <p:nvPicPr>
          <p:cNvPr descr="image.png" id="164" name="Google Shape;164;p17"/>
          <p:cNvPicPr preferRelativeResize="0"/>
          <p:nvPr/>
        </p:nvPicPr>
        <p:blipFill rotWithShape="1">
          <a:blip r:embed="rId10">
            <a:alphaModFix/>
          </a:blip>
          <a:srcRect b="0" l="0" r="0" t="0"/>
          <a:stretch/>
        </p:blipFill>
        <p:spPr>
          <a:xfrm>
            <a:off x="771525" y="1600200"/>
            <a:ext cx="85725" cy="142875"/>
          </a:xfrm>
          <a:prstGeom prst="rect">
            <a:avLst/>
          </a:prstGeom>
          <a:noFill/>
          <a:ln>
            <a:noFill/>
          </a:ln>
        </p:spPr>
      </p:pic>
      <p:pic>
        <p:nvPicPr>
          <p:cNvPr descr="image.png" id="165" name="Google Shape;165;p17"/>
          <p:cNvPicPr preferRelativeResize="0"/>
          <p:nvPr/>
        </p:nvPicPr>
        <p:blipFill rotWithShape="1">
          <a:blip r:embed="rId10">
            <a:alphaModFix/>
          </a:blip>
          <a:srcRect b="0" l="0" r="0" t="0"/>
          <a:stretch/>
        </p:blipFill>
        <p:spPr>
          <a:xfrm>
            <a:off x="759613" y="2631028"/>
            <a:ext cx="85725" cy="142875"/>
          </a:xfrm>
          <a:prstGeom prst="rect">
            <a:avLst/>
          </a:prstGeom>
          <a:noFill/>
          <a:ln>
            <a:noFill/>
          </a:ln>
        </p:spPr>
      </p:pic>
      <p:pic>
        <p:nvPicPr>
          <p:cNvPr descr="image.png" id="166" name="Google Shape;166;p17"/>
          <p:cNvPicPr preferRelativeResize="0"/>
          <p:nvPr/>
        </p:nvPicPr>
        <p:blipFill rotWithShape="1">
          <a:blip r:embed="rId10">
            <a:alphaModFix/>
          </a:blip>
          <a:srcRect b="0" l="0" r="0" t="0"/>
          <a:stretch/>
        </p:blipFill>
        <p:spPr>
          <a:xfrm>
            <a:off x="771525" y="3261900"/>
            <a:ext cx="85725" cy="142875"/>
          </a:xfrm>
          <a:prstGeom prst="rect">
            <a:avLst/>
          </a:prstGeom>
          <a:noFill/>
          <a:ln>
            <a:noFill/>
          </a:ln>
        </p:spPr>
      </p:pic>
      <p:pic>
        <p:nvPicPr>
          <p:cNvPr descr="image.png" id="167" name="Google Shape;167;p17"/>
          <p:cNvPicPr preferRelativeResize="0"/>
          <p:nvPr/>
        </p:nvPicPr>
        <p:blipFill rotWithShape="1">
          <a:blip r:embed="rId10">
            <a:alphaModFix/>
          </a:blip>
          <a:srcRect b="0" l="0" r="0" t="0"/>
          <a:stretch/>
        </p:blipFill>
        <p:spPr>
          <a:xfrm>
            <a:off x="771525" y="4676775"/>
            <a:ext cx="85725" cy="142875"/>
          </a:xfrm>
          <a:prstGeom prst="rect">
            <a:avLst/>
          </a:prstGeom>
          <a:noFill/>
          <a:ln>
            <a:noFill/>
          </a:ln>
        </p:spPr>
      </p:pic>
      <p:pic>
        <p:nvPicPr>
          <p:cNvPr descr="image.png" id="168" name="Google Shape;168;p17"/>
          <p:cNvPicPr preferRelativeResize="0"/>
          <p:nvPr/>
        </p:nvPicPr>
        <p:blipFill rotWithShape="1">
          <a:blip r:embed="rId10">
            <a:alphaModFix/>
          </a:blip>
          <a:srcRect b="0" l="0" r="0" t="0"/>
          <a:stretch/>
        </p:blipFill>
        <p:spPr>
          <a:xfrm>
            <a:off x="771525" y="5353050"/>
            <a:ext cx="85725" cy="142875"/>
          </a:xfrm>
          <a:prstGeom prst="rect">
            <a:avLst/>
          </a:prstGeom>
          <a:noFill/>
          <a:ln>
            <a:noFill/>
          </a:ln>
        </p:spPr>
      </p:pic>
      <p:pic>
        <p:nvPicPr>
          <p:cNvPr descr="image.png" id="169" name="Google Shape;169;p17"/>
          <p:cNvPicPr preferRelativeResize="0"/>
          <p:nvPr/>
        </p:nvPicPr>
        <p:blipFill rotWithShape="1">
          <a:blip r:embed="rId10">
            <a:alphaModFix/>
          </a:blip>
          <a:srcRect b="0" l="0" r="0" t="0"/>
          <a:stretch/>
        </p:blipFill>
        <p:spPr>
          <a:xfrm>
            <a:off x="771525" y="6029325"/>
            <a:ext cx="85725" cy="142875"/>
          </a:xfrm>
          <a:prstGeom prst="rect">
            <a:avLst/>
          </a:prstGeom>
          <a:noFill/>
          <a:ln>
            <a:noFill/>
          </a:ln>
        </p:spPr>
      </p:pic>
      <p:pic>
        <p:nvPicPr>
          <p:cNvPr descr="image.png" id="170" name="Google Shape;170;p17"/>
          <p:cNvPicPr preferRelativeResize="0"/>
          <p:nvPr/>
        </p:nvPicPr>
        <p:blipFill rotWithShape="1">
          <a:blip r:embed="rId11">
            <a:alphaModFix/>
          </a:blip>
          <a:srcRect b="0" l="0" r="0" t="0"/>
          <a:stretch/>
        </p:blipFill>
        <p:spPr>
          <a:xfrm>
            <a:off x="1125438" y="7677150"/>
            <a:ext cx="104775" cy="123825"/>
          </a:xfrm>
          <a:prstGeom prst="rect">
            <a:avLst/>
          </a:prstGeom>
          <a:noFill/>
          <a:ln>
            <a:noFill/>
          </a:ln>
        </p:spPr>
      </p:pic>
      <p:pic>
        <p:nvPicPr>
          <p:cNvPr descr="image.png" id="171" name="Google Shape;171;p17"/>
          <p:cNvPicPr preferRelativeResize="0"/>
          <p:nvPr/>
        </p:nvPicPr>
        <p:blipFill rotWithShape="1">
          <a:blip r:embed="rId12">
            <a:alphaModFix/>
          </a:blip>
          <a:srcRect b="0" l="0" r="0" t="0"/>
          <a:stretch/>
        </p:blipFill>
        <p:spPr>
          <a:xfrm>
            <a:off x="3048446" y="7677150"/>
            <a:ext cx="123825" cy="123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pic>
        <p:nvPicPr>
          <p:cNvPr descr="image.png" id="176" name="Google Shape;176;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7" name="Google Shape;177;p18"/>
          <p:cNvPicPr preferRelativeResize="0"/>
          <p:nvPr/>
        </p:nvPicPr>
        <p:blipFill rotWithShape="1">
          <a:blip r:embed="rId4">
            <a:alphaModFix/>
          </a:blip>
          <a:srcRect b="0" l="0" r="0" t="0"/>
          <a:stretch/>
        </p:blipFill>
        <p:spPr>
          <a:xfrm>
            <a:off x="571500" y="1428750"/>
            <a:ext cx="6400800" cy="1876425"/>
          </a:xfrm>
          <a:prstGeom prst="rect">
            <a:avLst/>
          </a:prstGeom>
          <a:noFill/>
          <a:ln>
            <a:noFill/>
          </a:ln>
        </p:spPr>
      </p:pic>
      <p:pic>
        <p:nvPicPr>
          <p:cNvPr descr="image.png" id="178" name="Google Shape;178;p18"/>
          <p:cNvPicPr preferRelativeResize="0"/>
          <p:nvPr/>
        </p:nvPicPr>
        <p:blipFill rotWithShape="1">
          <a:blip r:embed="rId4">
            <a:alphaModFix/>
          </a:blip>
          <a:srcRect b="0" l="0" r="0" t="0"/>
          <a:stretch/>
        </p:blipFill>
        <p:spPr>
          <a:xfrm>
            <a:off x="571500" y="3495675"/>
            <a:ext cx="6400800" cy="1876425"/>
          </a:xfrm>
          <a:prstGeom prst="rect">
            <a:avLst/>
          </a:prstGeom>
          <a:noFill/>
          <a:ln>
            <a:noFill/>
          </a:ln>
        </p:spPr>
      </p:pic>
      <p:sp>
        <p:nvSpPr>
          <p:cNvPr id="179" name="Google Shape;179;p18"/>
          <p:cNvSpPr txBox="1"/>
          <p:nvPr/>
        </p:nvSpPr>
        <p:spPr>
          <a:xfrm>
            <a:off x="571500" y="571500"/>
            <a:ext cx="8941117"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9477C"/>
                </a:solidFill>
                <a:latin typeface="Merriweather"/>
                <a:ea typeface="Merriweather"/>
                <a:cs typeface="Merriweather"/>
                <a:sym typeface="Merriweather"/>
              </a:rPr>
              <a:t>Omniglot Setup &amp; Few-Shot Task Sampling</a:t>
            </a:r>
            <a:endParaRPr/>
          </a:p>
        </p:txBody>
      </p:sp>
      <p:sp>
        <p:nvSpPr>
          <p:cNvPr id="180" name="Google Shape;180;p18"/>
          <p:cNvSpPr/>
          <p:nvPr/>
        </p:nvSpPr>
        <p:spPr>
          <a:xfrm>
            <a:off x="571500" y="1162050"/>
            <a:ext cx="8515350"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1" name="Google Shape;181;p18"/>
          <p:cNvPicPr preferRelativeResize="0"/>
          <p:nvPr/>
        </p:nvPicPr>
        <p:blipFill rotWithShape="1">
          <a:blip r:embed="rId5">
            <a:alphaModFix/>
          </a:blip>
          <a:srcRect b="0" l="0" r="0" t="0"/>
          <a:stretch/>
        </p:blipFill>
        <p:spPr>
          <a:xfrm>
            <a:off x="800100" y="5800725"/>
            <a:ext cx="257175" cy="228600"/>
          </a:xfrm>
          <a:prstGeom prst="rect">
            <a:avLst/>
          </a:prstGeom>
          <a:noFill/>
          <a:ln>
            <a:noFill/>
          </a:ln>
        </p:spPr>
      </p:pic>
      <p:sp>
        <p:nvSpPr>
          <p:cNvPr id="182" name="Google Shape;182;p18"/>
          <p:cNvSpPr txBox="1"/>
          <p:nvPr/>
        </p:nvSpPr>
        <p:spPr>
          <a:xfrm>
            <a:off x="1200150" y="5686425"/>
            <a:ext cx="1024890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9477C"/>
                </a:solidFill>
                <a:latin typeface="DM Sans"/>
                <a:ea typeface="DM Sans"/>
                <a:cs typeface="DM Sans"/>
                <a:sym typeface="DM Sans"/>
              </a:rPr>
              <a:t>Example (5-Way 5-Shot):</a:t>
            </a:r>
            <a:r>
              <a:rPr b="0" i="0" lang="en-US" sz="1200" u="none" cap="none" strike="noStrike">
                <a:solidFill>
                  <a:srgbClr val="09477C"/>
                </a:solidFill>
                <a:latin typeface="DM Sans Medium"/>
                <a:ea typeface="DM Sans Medium"/>
                <a:cs typeface="DM Sans Medium"/>
                <a:sym typeface="DM Sans Medium"/>
              </a:rPr>
              <a:t> Dynamically isolates 5 target classes. Local inner loops train/adapt parameters using 25 total support images (5 per class), and generalization properties are evaluated across 25 disjoint query images.</a:t>
            </a:r>
            <a:endParaRPr/>
          </a:p>
        </p:txBody>
      </p:sp>
      <p:sp>
        <p:nvSpPr>
          <p:cNvPr id="183" name="Google Shape;183;p18"/>
          <p:cNvSpPr txBox="1"/>
          <p:nvPr/>
        </p:nvSpPr>
        <p:spPr>
          <a:xfrm>
            <a:off x="809625" y="1666875"/>
            <a:ext cx="622077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9477C"/>
                </a:solidFill>
                <a:latin typeface="DM Sans"/>
                <a:ea typeface="DM Sans"/>
                <a:cs typeface="DM Sans"/>
                <a:sym typeface="DM Sans"/>
              </a:rPr>
              <a:t>Dataset Infrastructure</a:t>
            </a:r>
            <a:endParaRPr/>
          </a:p>
        </p:txBody>
      </p:sp>
      <p:sp>
        <p:nvSpPr>
          <p:cNvPr id="184" name="Google Shape;184;p18"/>
          <p:cNvSpPr txBox="1"/>
          <p:nvPr/>
        </p:nvSpPr>
        <p:spPr>
          <a:xfrm>
            <a:off x="809625" y="3733800"/>
            <a:ext cx="622077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9477C"/>
                </a:solidFill>
                <a:latin typeface="DM Sans"/>
                <a:ea typeface="DM Sans"/>
                <a:cs typeface="DM Sans"/>
                <a:sym typeface="DM Sans"/>
              </a:rPr>
              <a:t>Episodic Task Generation</a:t>
            </a:r>
            <a:endParaRPr/>
          </a:p>
        </p:txBody>
      </p:sp>
      <p:pic>
        <p:nvPicPr>
          <p:cNvPr descr="image.png" id="185" name="Google Shape;185;p18"/>
          <p:cNvPicPr preferRelativeResize="0"/>
          <p:nvPr/>
        </p:nvPicPr>
        <p:blipFill rotWithShape="1">
          <a:blip r:embed="rId6">
            <a:alphaModFix/>
          </a:blip>
          <a:srcRect b="0" l="0" r="0" t="0"/>
          <a:stretch/>
        </p:blipFill>
        <p:spPr>
          <a:xfrm>
            <a:off x="8058150" y="1590675"/>
            <a:ext cx="2857500" cy="2857500"/>
          </a:xfrm>
          <a:prstGeom prst="rect">
            <a:avLst/>
          </a:prstGeom>
          <a:noFill/>
          <a:ln>
            <a:noFill/>
          </a:ln>
        </p:spPr>
      </p:pic>
      <p:sp>
        <p:nvSpPr>
          <p:cNvPr id="186" name="Google Shape;186;p18"/>
          <p:cNvSpPr txBox="1"/>
          <p:nvPr/>
        </p:nvSpPr>
        <p:spPr>
          <a:xfrm>
            <a:off x="7505700" y="4543425"/>
            <a:ext cx="3962400" cy="342900"/>
          </a:xfrm>
          <a:prstGeom prst="rect">
            <a:avLst/>
          </a:prstGeom>
          <a:noFill/>
          <a:ln>
            <a:noFill/>
          </a:ln>
        </p:spPr>
        <p:txBody>
          <a:bodyPr anchorCtr="0" anchor="t" bIns="0" lIns="114300" spcFirstLastPara="1" rIns="0" wrap="square" tIns="0">
            <a:spAutoFit/>
          </a:bodyPr>
          <a:lstStyle/>
          <a:p>
            <a:pPr indent="0" lvl="0" marL="0" marR="0" rtl="0" algn="ctr">
              <a:lnSpc>
                <a:spcPct val="150000"/>
              </a:lnSpc>
              <a:spcBef>
                <a:spcPts val="0"/>
              </a:spcBef>
              <a:spcAft>
                <a:spcPts val="0"/>
              </a:spcAft>
              <a:buNone/>
            </a:pPr>
            <a:r>
              <a:rPr b="0" i="0" lang="en-US" sz="900" u="none" cap="none" strike="noStrike">
                <a:solidFill>
                  <a:srgbClr val="64748B"/>
                </a:solidFill>
                <a:latin typeface="DM Sans"/>
                <a:ea typeface="DM Sans"/>
                <a:cs typeface="DM Sans"/>
                <a:sym typeface="DM Sans"/>
              </a:rPr>
              <a:t>Representation of the Omniglot character domain and subset separation</a:t>
            </a:r>
            <a:endParaRPr/>
          </a:p>
        </p:txBody>
      </p:sp>
      <p:sp>
        <p:nvSpPr>
          <p:cNvPr id="187" name="Google Shape;187;p18"/>
          <p:cNvSpPr txBox="1"/>
          <p:nvPr/>
        </p:nvSpPr>
        <p:spPr>
          <a:xfrm>
            <a:off x="1038225" y="2057400"/>
            <a:ext cx="5696100" cy="4329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Consolidated Pool:</a:t>
            </a:r>
            <a:r>
              <a:rPr lang="en-US" sz="1125">
                <a:solidFill>
                  <a:srgbClr val="1E293B"/>
                </a:solidFill>
                <a:latin typeface="DM Sans"/>
                <a:ea typeface="DM Sans"/>
                <a:cs typeface="DM Sans"/>
                <a:sym typeface="DM Sans"/>
              </a:rPr>
              <a:t> B</a:t>
            </a:r>
            <a:r>
              <a:rPr b="0" i="0" lang="en-US" sz="1125" u="none" cap="none" strike="noStrike">
                <a:solidFill>
                  <a:srgbClr val="1E293B"/>
                </a:solidFill>
                <a:latin typeface="DM Sans"/>
                <a:ea typeface="DM Sans"/>
                <a:cs typeface="DM Sans"/>
                <a:sym typeface="DM Sans"/>
              </a:rPr>
              <a:t>ackground and evaluation folders were merged into a single pool; each character class acts independently.</a:t>
            </a:r>
            <a:endParaRPr/>
          </a:p>
        </p:txBody>
      </p:sp>
      <p:sp>
        <p:nvSpPr>
          <p:cNvPr id="188" name="Google Shape;188;p18"/>
          <p:cNvSpPr txBox="1"/>
          <p:nvPr/>
        </p:nvSpPr>
        <p:spPr>
          <a:xfrm>
            <a:off x="1038225" y="2562225"/>
            <a:ext cx="569595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Class-Level Splitting:</a:t>
            </a:r>
            <a:r>
              <a:rPr b="0" i="0" lang="en-US" sz="1125" u="none" cap="none" strike="noStrike">
                <a:solidFill>
                  <a:srgbClr val="1E293B"/>
                </a:solidFill>
                <a:latin typeface="DM Sans"/>
                <a:ea typeface="DM Sans"/>
                <a:cs typeface="DM Sans"/>
                <a:sym typeface="DM Sans"/>
              </a:rPr>
              <a:t> The partitions are strictly divided at the character-class level, guaranteeing mutually exclusive domains and zero data leakage.</a:t>
            </a:r>
            <a:endParaRPr/>
          </a:p>
        </p:txBody>
      </p:sp>
      <p:sp>
        <p:nvSpPr>
          <p:cNvPr id="189" name="Google Shape;189;p18"/>
          <p:cNvSpPr txBox="1"/>
          <p:nvPr/>
        </p:nvSpPr>
        <p:spPr>
          <a:xfrm>
            <a:off x="1038225" y="4124325"/>
            <a:ext cx="569595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N-Way Mapping:</a:t>
            </a:r>
            <a:r>
              <a:rPr b="0" i="0" lang="en-US" sz="1125" u="none" cap="none" strike="noStrike">
                <a:solidFill>
                  <a:srgbClr val="1E293B"/>
                </a:solidFill>
                <a:latin typeface="DM Sans"/>
                <a:ea typeface="DM Sans"/>
                <a:cs typeface="DM Sans"/>
                <a:sym typeface="DM Sans"/>
              </a:rPr>
              <a:t> Randomly draws n_way classes per task, assigning temporary local indices (0, 1, ..., n-1).</a:t>
            </a:r>
            <a:endParaRPr/>
          </a:p>
        </p:txBody>
      </p:sp>
      <p:sp>
        <p:nvSpPr>
          <p:cNvPr id="190" name="Google Shape;190;p18"/>
          <p:cNvSpPr txBox="1"/>
          <p:nvPr/>
        </p:nvSpPr>
        <p:spPr>
          <a:xfrm>
            <a:off x="1038225" y="4629150"/>
            <a:ext cx="569595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K-Shot Split Strategy:</a:t>
            </a:r>
            <a:r>
              <a:rPr b="0" i="0" lang="en-US" sz="1125" u="none" cap="none" strike="noStrike">
                <a:solidFill>
                  <a:srgbClr val="1E293B"/>
                </a:solidFill>
                <a:latin typeface="DM Sans"/>
                <a:ea typeface="DM Sans"/>
                <a:cs typeface="DM Sans"/>
                <a:sym typeface="DM Sans"/>
              </a:rPr>
              <a:t> Out of the images per class, the first k_shot instances construct the adaptation support set; the rest form the query evaluation set.</a:t>
            </a:r>
            <a:endParaRPr/>
          </a:p>
        </p:txBody>
      </p:sp>
      <p:pic>
        <p:nvPicPr>
          <p:cNvPr descr="image.png" id="191" name="Google Shape;191;p18"/>
          <p:cNvPicPr preferRelativeResize="0"/>
          <p:nvPr/>
        </p:nvPicPr>
        <p:blipFill rotWithShape="1">
          <a:blip r:embed="rId7">
            <a:alphaModFix/>
          </a:blip>
          <a:srcRect b="0" l="0" r="0" t="0"/>
          <a:stretch/>
        </p:blipFill>
        <p:spPr>
          <a:xfrm>
            <a:off x="809625" y="2076450"/>
            <a:ext cx="142875" cy="142875"/>
          </a:xfrm>
          <a:prstGeom prst="rect">
            <a:avLst/>
          </a:prstGeom>
          <a:noFill/>
          <a:ln>
            <a:noFill/>
          </a:ln>
        </p:spPr>
      </p:pic>
      <p:pic>
        <p:nvPicPr>
          <p:cNvPr descr="image.png" id="192" name="Google Shape;192;p18"/>
          <p:cNvPicPr preferRelativeResize="0"/>
          <p:nvPr/>
        </p:nvPicPr>
        <p:blipFill rotWithShape="1">
          <a:blip r:embed="rId7">
            <a:alphaModFix/>
          </a:blip>
          <a:srcRect b="0" l="0" r="0" t="0"/>
          <a:stretch/>
        </p:blipFill>
        <p:spPr>
          <a:xfrm>
            <a:off x="809625" y="2581275"/>
            <a:ext cx="142875" cy="142875"/>
          </a:xfrm>
          <a:prstGeom prst="rect">
            <a:avLst/>
          </a:prstGeom>
          <a:noFill/>
          <a:ln>
            <a:noFill/>
          </a:ln>
        </p:spPr>
      </p:pic>
      <p:pic>
        <p:nvPicPr>
          <p:cNvPr descr="image.png" id="193" name="Google Shape;193;p18"/>
          <p:cNvPicPr preferRelativeResize="0"/>
          <p:nvPr/>
        </p:nvPicPr>
        <p:blipFill rotWithShape="1">
          <a:blip r:embed="rId7">
            <a:alphaModFix/>
          </a:blip>
          <a:srcRect b="0" l="0" r="0" t="0"/>
          <a:stretch/>
        </p:blipFill>
        <p:spPr>
          <a:xfrm>
            <a:off x="809625" y="4143375"/>
            <a:ext cx="142875" cy="142875"/>
          </a:xfrm>
          <a:prstGeom prst="rect">
            <a:avLst/>
          </a:prstGeom>
          <a:noFill/>
          <a:ln>
            <a:noFill/>
          </a:ln>
        </p:spPr>
      </p:pic>
      <p:pic>
        <p:nvPicPr>
          <p:cNvPr descr="image.png" id="194" name="Google Shape;194;p18"/>
          <p:cNvPicPr preferRelativeResize="0"/>
          <p:nvPr/>
        </p:nvPicPr>
        <p:blipFill rotWithShape="1">
          <a:blip r:embed="rId7">
            <a:alphaModFix/>
          </a:blip>
          <a:srcRect b="0" l="0" r="0" t="0"/>
          <a:stretch/>
        </p:blipFill>
        <p:spPr>
          <a:xfrm>
            <a:off x="809625" y="4648200"/>
            <a:ext cx="142875" cy="142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pic>
        <p:nvPicPr>
          <p:cNvPr descr="image.png" id="199" name="Google Shape;199;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0" name="Google Shape;200;p19"/>
          <p:cNvPicPr preferRelativeResize="0"/>
          <p:nvPr/>
        </p:nvPicPr>
        <p:blipFill rotWithShape="1">
          <a:blip r:embed="rId4">
            <a:alphaModFix/>
          </a:blip>
          <a:srcRect b="0" l="0" r="0" t="0"/>
          <a:stretch/>
        </p:blipFill>
        <p:spPr>
          <a:xfrm>
            <a:off x="6238875" y="1428750"/>
            <a:ext cx="5381625" cy="3747462"/>
          </a:xfrm>
          <a:prstGeom prst="rect">
            <a:avLst/>
          </a:prstGeom>
          <a:noFill/>
          <a:ln>
            <a:noFill/>
          </a:ln>
        </p:spPr>
      </p:pic>
      <p:sp>
        <p:nvSpPr>
          <p:cNvPr id="201" name="Google Shape;201;p19"/>
          <p:cNvSpPr txBox="1"/>
          <p:nvPr/>
        </p:nvSpPr>
        <p:spPr>
          <a:xfrm>
            <a:off x="571500" y="571500"/>
            <a:ext cx="83511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09477C"/>
                </a:solidFill>
                <a:latin typeface="Merriweather"/>
                <a:ea typeface="Merriweather"/>
                <a:cs typeface="Merriweather"/>
                <a:sym typeface="Merriweather"/>
              </a:rPr>
              <a:t>CNN Architecture</a:t>
            </a:r>
            <a:r>
              <a:rPr b="1" i="0" lang="en-US" sz="3150" u="none" cap="none" strike="noStrike">
                <a:solidFill>
                  <a:srgbClr val="09477C"/>
                </a:solidFill>
                <a:latin typeface="Merriweather"/>
                <a:ea typeface="Merriweather"/>
                <a:cs typeface="Merriweather"/>
                <a:sym typeface="Merriweather"/>
              </a:rPr>
              <a:t> &amp; BatchNorm Strategy</a:t>
            </a:r>
            <a:endParaRPr/>
          </a:p>
        </p:txBody>
      </p:sp>
      <p:sp>
        <p:nvSpPr>
          <p:cNvPr id="202" name="Google Shape;202;p19"/>
          <p:cNvSpPr/>
          <p:nvPr/>
        </p:nvSpPr>
        <p:spPr>
          <a:xfrm>
            <a:off x="571500" y="1162050"/>
            <a:ext cx="7315200"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3" name="Google Shape;203;p19"/>
          <p:cNvPicPr preferRelativeResize="0"/>
          <p:nvPr/>
        </p:nvPicPr>
        <p:blipFill rotWithShape="1">
          <a:blip r:embed="rId5">
            <a:alphaModFix/>
          </a:blip>
          <a:srcRect b="0" l="0" r="0" t="0"/>
          <a:stretch/>
        </p:blipFill>
        <p:spPr>
          <a:xfrm>
            <a:off x="800100" y="5657850"/>
            <a:ext cx="228600" cy="228600"/>
          </a:xfrm>
          <a:prstGeom prst="rect">
            <a:avLst/>
          </a:prstGeom>
          <a:noFill/>
          <a:ln>
            <a:noFill/>
          </a:ln>
        </p:spPr>
      </p:pic>
      <p:sp>
        <p:nvSpPr>
          <p:cNvPr id="204" name="Google Shape;204;p19"/>
          <p:cNvSpPr txBox="1"/>
          <p:nvPr/>
        </p:nvSpPr>
        <p:spPr>
          <a:xfrm>
            <a:off x="1171575" y="5476710"/>
            <a:ext cx="10277400" cy="738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9477C"/>
                </a:solidFill>
                <a:latin typeface="DM Sans"/>
                <a:ea typeface="DM Sans"/>
                <a:cs typeface="DM Sans"/>
                <a:sym typeface="DM Sans"/>
              </a:rPr>
              <a:t>Buffer Corruption Prevention:</a:t>
            </a:r>
            <a:r>
              <a:rPr b="0" i="0" lang="en-US" sz="1200" u="none" cap="none" strike="noStrike">
                <a:solidFill>
                  <a:srgbClr val="09477C"/>
                </a:solidFill>
                <a:latin typeface="DM Sans Medium"/>
                <a:ea typeface="DM Sans Medium"/>
                <a:cs typeface="DM Sans Medium"/>
                <a:sym typeface="DM Sans Medium"/>
              </a:rPr>
              <a:t> Restricting updates to parameters prevented contaminating non-learnable BatchNorm tracking statistics—such as running_mean and running_var—ensuring that localized task behaviors did not bleed across distinct training episodes or destabilize global initializations.</a:t>
            </a:r>
            <a:endParaRPr/>
          </a:p>
        </p:txBody>
      </p:sp>
      <p:sp>
        <p:nvSpPr>
          <p:cNvPr id="205" name="Google Shape;205;p19"/>
          <p:cNvSpPr txBox="1"/>
          <p:nvPr/>
        </p:nvSpPr>
        <p:spPr>
          <a:xfrm>
            <a:off x="6354363" y="1666875"/>
            <a:ext cx="51507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9477C"/>
                </a:solidFill>
                <a:latin typeface="DM Sans"/>
                <a:ea typeface="DM Sans"/>
                <a:cs typeface="DM Sans"/>
                <a:sym typeface="DM Sans"/>
              </a:rPr>
              <a:t>Backbone Architecture</a:t>
            </a:r>
            <a:endParaRPr/>
          </a:p>
        </p:txBody>
      </p:sp>
      <p:sp>
        <p:nvSpPr>
          <p:cNvPr id="206" name="Google Shape;206;p19"/>
          <p:cNvSpPr txBox="1"/>
          <p:nvPr/>
        </p:nvSpPr>
        <p:spPr>
          <a:xfrm>
            <a:off x="6705588" y="2121850"/>
            <a:ext cx="4676700" cy="9522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Learned Downsampling:</a:t>
            </a:r>
            <a:r>
              <a:rPr b="0" i="0" lang="en-US" sz="1125" u="none" cap="none" strike="noStrike">
                <a:solidFill>
                  <a:srgbClr val="1E293B"/>
                </a:solidFill>
                <a:latin typeface="DM Sans"/>
                <a:ea typeface="DM Sans"/>
                <a:cs typeface="DM Sans"/>
                <a:sym typeface="DM Sans"/>
              </a:rPr>
              <a:t> Replaces traditional static Max Pooling operations with active stride=2 convolutions, enabling the neural network to autonomously learn its own optimized downsampling filters.</a:t>
            </a:r>
            <a:endParaRPr/>
          </a:p>
        </p:txBody>
      </p:sp>
      <p:sp>
        <p:nvSpPr>
          <p:cNvPr id="207" name="Google Shape;207;p19"/>
          <p:cNvSpPr txBox="1"/>
          <p:nvPr/>
        </p:nvSpPr>
        <p:spPr>
          <a:xfrm>
            <a:off x="6705600" y="3222725"/>
            <a:ext cx="4676700" cy="9405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Progressive Compression:</a:t>
            </a:r>
            <a:r>
              <a:rPr b="0" i="0" lang="en-US" sz="1125" u="none" cap="none" strike="noStrike">
                <a:solidFill>
                  <a:srgbClr val="1E293B"/>
                </a:solidFill>
                <a:latin typeface="DM Sans"/>
                <a:ea typeface="DM Sans"/>
                <a:cs typeface="DM Sans"/>
                <a:sym typeface="DM Sans"/>
              </a:rPr>
              <a:t> </a:t>
            </a:r>
            <a:r>
              <a:rPr lang="en-US" sz="1100">
                <a:solidFill>
                  <a:schemeClr val="dk1"/>
                </a:solidFill>
              </a:rPr>
              <a:t>The CNN compresses each </a:t>
            </a:r>
            <a:r>
              <a:rPr lang="en-US" sz="1100">
                <a:solidFill>
                  <a:srgbClr val="188038"/>
                </a:solidFill>
                <a:latin typeface="Roboto Mono"/>
                <a:ea typeface="Roboto Mono"/>
                <a:cs typeface="Roboto Mono"/>
                <a:sym typeface="Roboto Mono"/>
              </a:rPr>
              <a:t>28 × 28</a:t>
            </a:r>
            <a:r>
              <a:rPr lang="en-US" sz="1100">
                <a:solidFill>
                  <a:schemeClr val="dk1"/>
                </a:solidFill>
              </a:rPr>
              <a:t> character image through four convolutional blocks into a compact </a:t>
            </a:r>
            <a:r>
              <a:rPr lang="en-US" sz="1100">
                <a:solidFill>
                  <a:srgbClr val="188038"/>
                </a:solidFill>
                <a:latin typeface="Roboto Mono"/>
                <a:ea typeface="Roboto Mono"/>
                <a:cs typeface="Roboto Mono"/>
                <a:sym typeface="Roboto Mono"/>
              </a:rPr>
              <a:t>64 × 2 × 2</a:t>
            </a:r>
            <a:r>
              <a:rPr lang="en-US" sz="1100">
                <a:solidFill>
                  <a:schemeClr val="dk1"/>
                </a:solidFill>
              </a:rPr>
              <a:t> feature map, which is flattened into a </a:t>
            </a:r>
            <a:r>
              <a:rPr lang="en-US" sz="1100">
                <a:solidFill>
                  <a:srgbClr val="188038"/>
                </a:solidFill>
                <a:latin typeface="Roboto Mono"/>
                <a:ea typeface="Roboto Mono"/>
                <a:cs typeface="Roboto Mono"/>
                <a:sym typeface="Roboto Mono"/>
              </a:rPr>
              <a:t>256</a:t>
            </a:r>
            <a:r>
              <a:rPr lang="en-US" sz="1100">
                <a:solidFill>
                  <a:schemeClr val="dk1"/>
                </a:solidFill>
              </a:rPr>
              <a:t>-dimensional feature vector.</a:t>
            </a:r>
            <a:endParaRPr sz="1100">
              <a:solidFill>
                <a:schemeClr val="dk1"/>
              </a:solidFill>
            </a:endParaRPr>
          </a:p>
          <a:p>
            <a:pPr indent="0" lvl="0" marL="0" marR="0" rtl="0" algn="l">
              <a:lnSpc>
                <a:spcPct val="149955"/>
              </a:lnSpc>
              <a:spcBef>
                <a:spcPts val="0"/>
              </a:spcBef>
              <a:spcAft>
                <a:spcPts val="0"/>
              </a:spcAft>
              <a:buNone/>
            </a:pPr>
            <a:r>
              <a:t/>
            </a:r>
            <a:endParaRPr sz="1125">
              <a:solidFill>
                <a:srgbClr val="1E293B"/>
              </a:solidFill>
              <a:latin typeface="DM Sans"/>
              <a:ea typeface="DM Sans"/>
              <a:cs typeface="DM Sans"/>
              <a:sym typeface="DM Sans"/>
            </a:endParaRPr>
          </a:p>
        </p:txBody>
      </p:sp>
      <p:sp>
        <p:nvSpPr>
          <p:cNvPr id="208" name="Google Shape;208;p19"/>
          <p:cNvSpPr txBox="1"/>
          <p:nvPr/>
        </p:nvSpPr>
        <p:spPr>
          <a:xfrm>
            <a:off x="6705600" y="4323601"/>
            <a:ext cx="4676700" cy="6924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Few-Shot Stability:</a:t>
            </a:r>
            <a:r>
              <a:rPr b="0" i="0" lang="en-US" sz="1125" u="none" cap="none" strike="noStrike">
                <a:solidFill>
                  <a:srgbClr val="1E293B"/>
                </a:solidFill>
                <a:latin typeface="DM Sans"/>
                <a:ea typeface="DM Sans"/>
                <a:cs typeface="DM Sans"/>
                <a:sym typeface="DM Sans"/>
              </a:rPr>
              <a:t> Strictly embeds BatchNorm2d immediately after each convolution layer to mitigate internal covariate shift during rapid, highly volatile inner-loop task updates.</a:t>
            </a:r>
            <a:endParaRPr/>
          </a:p>
        </p:txBody>
      </p:sp>
      <p:pic>
        <p:nvPicPr>
          <p:cNvPr descr="image.png" id="209" name="Google Shape;209;p19"/>
          <p:cNvPicPr preferRelativeResize="0"/>
          <p:nvPr/>
        </p:nvPicPr>
        <p:blipFill rotWithShape="1">
          <a:blip r:embed="rId6">
            <a:alphaModFix/>
          </a:blip>
          <a:srcRect b="0" l="0" r="0" t="0"/>
          <a:stretch/>
        </p:blipFill>
        <p:spPr>
          <a:xfrm>
            <a:off x="6477000" y="2170125"/>
            <a:ext cx="142875" cy="142875"/>
          </a:xfrm>
          <a:prstGeom prst="rect">
            <a:avLst/>
          </a:prstGeom>
          <a:noFill/>
          <a:ln>
            <a:noFill/>
          </a:ln>
        </p:spPr>
      </p:pic>
      <p:pic>
        <p:nvPicPr>
          <p:cNvPr descr="image.png" id="210" name="Google Shape;210;p19"/>
          <p:cNvPicPr preferRelativeResize="0"/>
          <p:nvPr/>
        </p:nvPicPr>
        <p:blipFill rotWithShape="1">
          <a:blip r:embed="rId6">
            <a:alphaModFix/>
          </a:blip>
          <a:srcRect b="0" l="0" r="0" t="0"/>
          <a:stretch/>
        </p:blipFill>
        <p:spPr>
          <a:xfrm>
            <a:off x="6477000" y="3262225"/>
            <a:ext cx="142875" cy="142875"/>
          </a:xfrm>
          <a:prstGeom prst="rect">
            <a:avLst/>
          </a:prstGeom>
          <a:noFill/>
          <a:ln>
            <a:noFill/>
          </a:ln>
        </p:spPr>
      </p:pic>
      <p:pic>
        <p:nvPicPr>
          <p:cNvPr descr="image.png" id="211" name="Google Shape;211;p19"/>
          <p:cNvPicPr preferRelativeResize="0"/>
          <p:nvPr/>
        </p:nvPicPr>
        <p:blipFill rotWithShape="1">
          <a:blip r:embed="rId6">
            <a:alphaModFix/>
          </a:blip>
          <a:srcRect b="0" l="0" r="0" t="0"/>
          <a:stretch/>
        </p:blipFill>
        <p:spPr>
          <a:xfrm>
            <a:off x="6477000" y="4354325"/>
            <a:ext cx="142875" cy="142875"/>
          </a:xfrm>
          <a:prstGeom prst="rect">
            <a:avLst/>
          </a:prstGeom>
          <a:noFill/>
          <a:ln>
            <a:noFill/>
          </a:ln>
        </p:spPr>
      </p:pic>
      <p:pic>
        <p:nvPicPr>
          <p:cNvPr id="212" name="Google Shape;212;p19"/>
          <p:cNvPicPr preferRelativeResize="0"/>
          <p:nvPr/>
        </p:nvPicPr>
        <p:blipFill>
          <a:blip r:embed="rId7">
            <a:alphaModFix/>
          </a:blip>
          <a:stretch>
            <a:fillRect/>
          </a:stretch>
        </p:blipFill>
        <p:spPr>
          <a:xfrm>
            <a:off x="286750" y="1851613"/>
            <a:ext cx="5844413" cy="29640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pic>
        <p:nvPicPr>
          <p:cNvPr descr="image.png" id="217" name="Google Shape;217;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8" name="Google Shape;218;p20"/>
          <p:cNvPicPr preferRelativeResize="0"/>
          <p:nvPr/>
        </p:nvPicPr>
        <p:blipFill rotWithShape="1">
          <a:blip r:embed="rId4">
            <a:alphaModFix/>
          </a:blip>
          <a:srcRect b="0" l="0" r="0" t="0"/>
          <a:stretch/>
        </p:blipFill>
        <p:spPr>
          <a:xfrm>
            <a:off x="571500" y="1476375"/>
            <a:ext cx="5410200" cy="3076575"/>
          </a:xfrm>
          <a:prstGeom prst="rect">
            <a:avLst/>
          </a:prstGeom>
          <a:noFill/>
          <a:ln>
            <a:noFill/>
          </a:ln>
        </p:spPr>
      </p:pic>
      <p:pic>
        <p:nvPicPr>
          <p:cNvPr descr="image.png" id="219" name="Google Shape;219;p20"/>
          <p:cNvPicPr preferRelativeResize="0"/>
          <p:nvPr/>
        </p:nvPicPr>
        <p:blipFill rotWithShape="1">
          <a:blip r:embed="rId4">
            <a:alphaModFix/>
          </a:blip>
          <a:srcRect b="0" l="0" r="0" t="0"/>
          <a:stretch/>
        </p:blipFill>
        <p:spPr>
          <a:xfrm>
            <a:off x="6210300" y="1476375"/>
            <a:ext cx="5410200" cy="3076575"/>
          </a:xfrm>
          <a:prstGeom prst="rect">
            <a:avLst/>
          </a:prstGeom>
          <a:noFill/>
          <a:ln>
            <a:noFill/>
          </a:ln>
        </p:spPr>
      </p:pic>
      <p:sp>
        <p:nvSpPr>
          <p:cNvPr id="220" name="Google Shape;220;p20"/>
          <p:cNvSpPr txBox="1"/>
          <p:nvPr/>
        </p:nvSpPr>
        <p:spPr>
          <a:xfrm>
            <a:off x="571500" y="571500"/>
            <a:ext cx="5890736"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9477C"/>
                </a:solidFill>
                <a:latin typeface="Merriweather"/>
                <a:ea typeface="Merriweather"/>
                <a:cs typeface="Merriweather"/>
                <a:sym typeface="Merriweather"/>
              </a:rPr>
              <a:t>Inner &amp; Outer Loop Strategy</a:t>
            </a:r>
            <a:endParaRPr/>
          </a:p>
        </p:txBody>
      </p:sp>
      <p:sp>
        <p:nvSpPr>
          <p:cNvPr id="221" name="Google Shape;221;p20"/>
          <p:cNvSpPr/>
          <p:nvPr/>
        </p:nvSpPr>
        <p:spPr>
          <a:xfrm>
            <a:off x="571500" y="1162050"/>
            <a:ext cx="5610225"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2" name="Google Shape;222;p20"/>
          <p:cNvPicPr preferRelativeResize="0"/>
          <p:nvPr/>
        </p:nvPicPr>
        <p:blipFill rotWithShape="1">
          <a:blip r:embed="rId5">
            <a:alphaModFix/>
          </a:blip>
          <a:srcRect b="0" l="0" r="0" t="0"/>
          <a:stretch/>
        </p:blipFill>
        <p:spPr>
          <a:xfrm>
            <a:off x="819150" y="5705475"/>
            <a:ext cx="200025" cy="266700"/>
          </a:xfrm>
          <a:prstGeom prst="rect">
            <a:avLst/>
          </a:prstGeom>
          <a:noFill/>
          <a:ln>
            <a:noFill/>
          </a:ln>
        </p:spPr>
      </p:pic>
      <p:sp>
        <p:nvSpPr>
          <p:cNvPr id="223" name="Google Shape;223;p20"/>
          <p:cNvSpPr txBox="1"/>
          <p:nvPr/>
        </p:nvSpPr>
        <p:spPr>
          <a:xfrm>
            <a:off x="1162050" y="5581650"/>
            <a:ext cx="102679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9477C"/>
                </a:solidFill>
                <a:latin typeface="DM Sans"/>
                <a:ea typeface="DM Sans"/>
                <a:cs typeface="DM Sans"/>
                <a:sym typeface="DM Sans"/>
              </a:rPr>
              <a:t>Main Idea:</a:t>
            </a:r>
            <a:r>
              <a:rPr b="0" i="0" lang="en-US" sz="1350" u="none" cap="none" strike="noStrike">
                <a:solidFill>
                  <a:srgbClr val="09477C"/>
                </a:solidFill>
                <a:latin typeface="DM Sans Medium"/>
                <a:ea typeface="DM Sans Medium"/>
                <a:cs typeface="DM Sans Medium"/>
                <a:sym typeface="DM Sans Medium"/>
              </a:rPr>
              <a:t> Adam is used to learn each specific task quickly in the inner loop, while the outer Reptile update extracts shared structural invariants to learn a robust global initialization for future tasks.</a:t>
            </a:r>
            <a:endParaRPr/>
          </a:p>
        </p:txBody>
      </p:sp>
      <p:sp>
        <p:nvSpPr>
          <p:cNvPr id="224" name="Google Shape;224;p20"/>
          <p:cNvSpPr txBox="1"/>
          <p:nvPr/>
        </p:nvSpPr>
        <p:spPr>
          <a:xfrm>
            <a:off x="809625" y="1714500"/>
            <a:ext cx="518064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9477C"/>
                </a:solidFill>
                <a:latin typeface="DM Sans"/>
                <a:ea typeface="DM Sans"/>
                <a:cs typeface="DM Sans"/>
                <a:sym typeface="DM Sans"/>
              </a:rPr>
              <a:t>Inner Loop: Adam for Task Adaptation</a:t>
            </a:r>
            <a:endParaRPr/>
          </a:p>
        </p:txBody>
      </p:sp>
      <p:sp>
        <p:nvSpPr>
          <p:cNvPr id="225" name="Google Shape;225;p20"/>
          <p:cNvSpPr txBox="1"/>
          <p:nvPr/>
        </p:nvSpPr>
        <p:spPr>
          <a:xfrm>
            <a:off x="6448425" y="1714500"/>
            <a:ext cx="518064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9477C"/>
                </a:solidFill>
                <a:latin typeface="DM Sans"/>
                <a:ea typeface="DM Sans"/>
                <a:cs typeface="DM Sans"/>
                <a:sym typeface="DM Sans"/>
              </a:rPr>
              <a:t>Outer Loop: Reptile Meta-Update</a:t>
            </a:r>
            <a:endParaRPr/>
          </a:p>
        </p:txBody>
      </p:sp>
      <p:sp>
        <p:nvSpPr>
          <p:cNvPr id="226" name="Google Shape;226;p20"/>
          <p:cNvSpPr txBox="1"/>
          <p:nvPr/>
        </p:nvSpPr>
        <p:spPr>
          <a:xfrm>
            <a:off x="1038225" y="210502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For each sampled task, the meta-model is copied to initialize a local task_model.</a:t>
            </a:r>
            <a:endParaRPr/>
          </a:p>
        </p:txBody>
      </p:sp>
      <p:sp>
        <p:nvSpPr>
          <p:cNvPr id="227" name="Google Shape;227;p20"/>
          <p:cNvSpPr txBox="1"/>
          <p:nvPr/>
        </p:nvSpPr>
        <p:spPr>
          <a:xfrm>
            <a:off x="1038225" y="265747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The cloned model is trained on the task's support set to perform rapid localized adaptation.</a:t>
            </a:r>
            <a:endParaRPr/>
          </a:p>
        </p:txBody>
      </p:sp>
      <p:sp>
        <p:nvSpPr>
          <p:cNvPr id="228" name="Google Shape;228;p20"/>
          <p:cNvSpPr txBox="1"/>
          <p:nvPr/>
        </p:nvSpPr>
        <p:spPr>
          <a:xfrm>
            <a:off x="1038225" y="320992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Adam optimizer is utilized in the inner loop to accelerate parameter adjustments using few examples.</a:t>
            </a:r>
            <a:endParaRPr/>
          </a:p>
        </p:txBody>
      </p:sp>
      <p:sp>
        <p:nvSpPr>
          <p:cNvPr id="229" name="Google Shape;229;p20"/>
          <p:cNvSpPr txBox="1"/>
          <p:nvPr/>
        </p:nvSpPr>
        <p:spPr>
          <a:xfrm>
            <a:off x="1038225" y="376237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Configured with β_1 = 0 and β_2 = 0.999; removing momentum isolates task-specific updates.</a:t>
            </a:r>
            <a:endParaRPr/>
          </a:p>
        </p:txBody>
      </p:sp>
      <p:sp>
        <p:nvSpPr>
          <p:cNvPr id="230" name="Google Shape;230;p20"/>
          <p:cNvSpPr txBox="1"/>
          <p:nvPr/>
        </p:nvSpPr>
        <p:spPr>
          <a:xfrm>
            <a:off x="6677025" y="210502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Compares original meta-model parameters with adapted task-specific weights after inner loop completion.</a:t>
            </a:r>
            <a:endParaRPr/>
          </a:p>
        </p:txBody>
      </p:sp>
      <p:sp>
        <p:nvSpPr>
          <p:cNvPr id="231" name="Google Shape;231;p20"/>
          <p:cNvSpPr txBox="1"/>
          <p:nvPr/>
        </p:nvSpPr>
        <p:spPr>
          <a:xfrm>
            <a:off x="6677025" y="265747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The global meta-model is shifted toward the adapted weights via a directional interpolation step.</a:t>
            </a:r>
            <a:endParaRPr/>
          </a:p>
        </p:txBody>
      </p:sp>
      <p:sp>
        <p:nvSpPr>
          <p:cNvPr id="232" name="Google Shape;232;p20"/>
          <p:cNvSpPr txBox="1"/>
          <p:nvPr/>
        </p:nvSpPr>
        <p:spPr>
          <a:xfrm>
            <a:off x="6677025" y="320992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Executes an SGD-style update where the optimized parameter difference serves as the pseudo-gradient.</a:t>
            </a:r>
            <a:endParaRPr/>
          </a:p>
        </p:txBody>
      </p:sp>
      <p:sp>
        <p:nvSpPr>
          <p:cNvPr id="233" name="Google Shape;233;p20"/>
          <p:cNvSpPr txBox="1"/>
          <p:nvPr/>
        </p:nvSpPr>
        <p:spPr>
          <a:xfrm>
            <a:off x="6677025" y="3762375"/>
            <a:ext cx="47053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The meta learning rate acts as the global step size, regulating initialization velocity.</a:t>
            </a:r>
            <a:endParaRPr/>
          </a:p>
        </p:txBody>
      </p:sp>
      <p:pic>
        <p:nvPicPr>
          <p:cNvPr descr="image.png" id="234" name="Google Shape;234;p20"/>
          <p:cNvPicPr preferRelativeResize="0"/>
          <p:nvPr/>
        </p:nvPicPr>
        <p:blipFill rotWithShape="1">
          <a:blip r:embed="rId6">
            <a:alphaModFix/>
          </a:blip>
          <a:srcRect b="0" l="0" r="0" t="0"/>
          <a:stretch/>
        </p:blipFill>
        <p:spPr>
          <a:xfrm>
            <a:off x="809625" y="2124075"/>
            <a:ext cx="152400" cy="152400"/>
          </a:xfrm>
          <a:prstGeom prst="rect">
            <a:avLst/>
          </a:prstGeom>
          <a:noFill/>
          <a:ln>
            <a:noFill/>
          </a:ln>
        </p:spPr>
      </p:pic>
      <p:pic>
        <p:nvPicPr>
          <p:cNvPr descr="image.png" id="235" name="Google Shape;235;p20"/>
          <p:cNvPicPr preferRelativeResize="0"/>
          <p:nvPr/>
        </p:nvPicPr>
        <p:blipFill rotWithShape="1">
          <a:blip r:embed="rId6">
            <a:alphaModFix/>
          </a:blip>
          <a:srcRect b="0" l="0" r="0" t="0"/>
          <a:stretch/>
        </p:blipFill>
        <p:spPr>
          <a:xfrm>
            <a:off x="809625" y="2676525"/>
            <a:ext cx="152400" cy="152400"/>
          </a:xfrm>
          <a:prstGeom prst="rect">
            <a:avLst/>
          </a:prstGeom>
          <a:noFill/>
          <a:ln>
            <a:noFill/>
          </a:ln>
        </p:spPr>
      </p:pic>
      <p:pic>
        <p:nvPicPr>
          <p:cNvPr descr="image.png" id="236" name="Google Shape;236;p20"/>
          <p:cNvPicPr preferRelativeResize="0"/>
          <p:nvPr/>
        </p:nvPicPr>
        <p:blipFill rotWithShape="1">
          <a:blip r:embed="rId6">
            <a:alphaModFix/>
          </a:blip>
          <a:srcRect b="0" l="0" r="0" t="0"/>
          <a:stretch/>
        </p:blipFill>
        <p:spPr>
          <a:xfrm>
            <a:off x="809625" y="3228975"/>
            <a:ext cx="152400" cy="152400"/>
          </a:xfrm>
          <a:prstGeom prst="rect">
            <a:avLst/>
          </a:prstGeom>
          <a:noFill/>
          <a:ln>
            <a:noFill/>
          </a:ln>
        </p:spPr>
      </p:pic>
      <p:pic>
        <p:nvPicPr>
          <p:cNvPr descr="image.png" id="237" name="Google Shape;237;p20"/>
          <p:cNvPicPr preferRelativeResize="0"/>
          <p:nvPr/>
        </p:nvPicPr>
        <p:blipFill rotWithShape="1">
          <a:blip r:embed="rId6">
            <a:alphaModFix/>
          </a:blip>
          <a:srcRect b="0" l="0" r="0" t="0"/>
          <a:stretch/>
        </p:blipFill>
        <p:spPr>
          <a:xfrm>
            <a:off x="809625" y="3781425"/>
            <a:ext cx="152400" cy="152400"/>
          </a:xfrm>
          <a:prstGeom prst="rect">
            <a:avLst/>
          </a:prstGeom>
          <a:noFill/>
          <a:ln>
            <a:noFill/>
          </a:ln>
        </p:spPr>
      </p:pic>
      <p:pic>
        <p:nvPicPr>
          <p:cNvPr descr="image.png" id="238" name="Google Shape;238;p20"/>
          <p:cNvPicPr preferRelativeResize="0"/>
          <p:nvPr/>
        </p:nvPicPr>
        <p:blipFill rotWithShape="1">
          <a:blip r:embed="rId6">
            <a:alphaModFix/>
          </a:blip>
          <a:srcRect b="0" l="0" r="0" t="0"/>
          <a:stretch/>
        </p:blipFill>
        <p:spPr>
          <a:xfrm>
            <a:off x="6448425" y="2124075"/>
            <a:ext cx="152400" cy="152400"/>
          </a:xfrm>
          <a:prstGeom prst="rect">
            <a:avLst/>
          </a:prstGeom>
          <a:noFill/>
          <a:ln>
            <a:noFill/>
          </a:ln>
        </p:spPr>
      </p:pic>
      <p:pic>
        <p:nvPicPr>
          <p:cNvPr descr="image.png" id="239" name="Google Shape;239;p20"/>
          <p:cNvPicPr preferRelativeResize="0"/>
          <p:nvPr/>
        </p:nvPicPr>
        <p:blipFill rotWithShape="1">
          <a:blip r:embed="rId6">
            <a:alphaModFix/>
          </a:blip>
          <a:srcRect b="0" l="0" r="0" t="0"/>
          <a:stretch/>
        </p:blipFill>
        <p:spPr>
          <a:xfrm>
            <a:off x="6448425" y="2676525"/>
            <a:ext cx="152400" cy="152400"/>
          </a:xfrm>
          <a:prstGeom prst="rect">
            <a:avLst/>
          </a:prstGeom>
          <a:noFill/>
          <a:ln>
            <a:noFill/>
          </a:ln>
        </p:spPr>
      </p:pic>
      <p:pic>
        <p:nvPicPr>
          <p:cNvPr descr="image.png" id="240" name="Google Shape;240;p20"/>
          <p:cNvPicPr preferRelativeResize="0"/>
          <p:nvPr/>
        </p:nvPicPr>
        <p:blipFill rotWithShape="1">
          <a:blip r:embed="rId6">
            <a:alphaModFix/>
          </a:blip>
          <a:srcRect b="0" l="0" r="0" t="0"/>
          <a:stretch/>
        </p:blipFill>
        <p:spPr>
          <a:xfrm>
            <a:off x="6448425" y="3228975"/>
            <a:ext cx="152400" cy="152400"/>
          </a:xfrm>
          <a:prstGeom prst="rect">
            <a:avLst/>
          </a:prstGeom>
          <a:noFill/>
          <a:ln>
            <a:noFill/>
          </a:ln>
        </p:spPr>
      </p:pic>
      <p:pic>
        <p:nvPicPr>
          <p:cNvPr descr="image.png" id="241" name="Google Shape;241;p20"/>
          <p:cNvPicPr preferRelativeResize="0"/>
          <p:nvPr/>
        </p:nvPicPr>
        <p:blipFill rotWithShape="1">
          <a:blip r:embed="rId6">
            <a:alphaModFix/>
          </a:blip>
          <a:srcRect b="0" l="0" r="0" t="0"/>
          <a:stretch/>
        </p:blipFill>
        <p:spPr>
          <a:xfrm>
            <a:off x="6448425" y="3781425"/>
            <a:ext cx="152400" cy="15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pic>
        <p:nvPicPr>
          <p:cNvPr descr="image.png" id="246" name="Google Shape;246;p21"/>
          <p:cNvPicPr preferRelativeResize="0"/>
          <p:nvPr/>
        </p:nvPicPr>
        <p:blipFill rotWithShape="1">
          <a:blip r:embed="rId3">
            <a:alphaModFix/>
          </a:blip>
          <a:srcRect b="0" l="0" r="0" t="0"/>
          <a:stretch/>
        </p:blipFill>
        <p:spPr>
          <a:xfrm>
            <a:off x="23730" y="0"/>
            <a:ext cx="12192000" cy="6858000"/>
          </a:xfrm>
          <a:prstGeom prst="rect">
            <a:avLst/>
          </a:prstGeom>
          <a:noFill/>
          <a:ln>
            <a:noFill/>
          </a:ln>
        </p:spPr>
      </p:pic>
      <p:sp>
        <p:nvSpPr>
          <p:cNvPr id="247" name="Google Shape;247;p21"/>
          <p:cNvSpPr txBox="1"/>
          <p:nvPr/>
        </p:nvSpPr>
        <p:spPr>
          <a:xfrm>
            <a:off x="571500" y="571500"/>
            <a:ext cx="9679800" cy="4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09477C"/>
                </a:solidFill>
                <a:latin typeface="Merriweather"/>
                <a:ea typeface="Merriweather"/>
                <a:cs typeface="Merriweather"/>
                <a:sym typeface="Merriweather"/>
              </a:rPr>
              <a:t>Final Configurations Summary &amp; Results</a:t>
            </a:r>
            <a:endParaRPr b="0" i="0" sz="1400" u="none" cap="none" strike="noStrike">
              <a:solidFill>
                <a:srgbClr val="000000"/>
              </a:solidFill>
              <a:latin typeface="Arial"/>
              <a:ea typeface="Arial"/>
              <a:cs typeface="Arial"/>
              <a:sym typeface="Arial"/>
            </a:endParaRPr>
          </a:p>
        </p:txBody>
      </p:sp>
      <p:sp>
        <p:nvSpPr>
          <p:cNvPr id="248" name="Google Shape;248;p21"/>
          <p:cNvSpPr/>
          <p:nvPr/>
        </p:nvSpPr>
        <p:spPr>
          <a:xfrm>
            <a:off x="571500" y="1162050"/>
            <a:ext cx="7888200" cy="72000"/>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49" name="Google Shape;249;p21"/>
          <p:cNvGraphicFramePr/>
          <p:nvPr/>
        </p:nvGraphicFramePr>
        <p:xfrm>
          <a:off x="322325" y="2033662"/>
          <a:ext cx="3000000" cy="3000000"/>
        </p:xfrm>
        <a:graphic>
          <a:graphicData uri="http://schemas.openxmlformats.org/drawingml/2006/table">
            <a:tbl>
              <a:tblPr bandRow="1" firstRow="1">
                <a:noFill/>
                <a:tableStyleId>{EFB42413-0C32-4C3C-8C7E-F315ED1D0C76}</a:tableStyleId>
              </a:tblPr>
              <a:tblGrid>
                <a:gridCol w="1575475"/>
                <a:gridCol w="1398800"/>
                <a:gridCol w="1312675"/>
                <a:gridCol w="1247175"/>
                <a:gridCol w="6108175"/>
              </a:tblGrid>
              <a:tr h="668325">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DM Sans"/>
                          <a:ea typeface="DM Sans"/>
                          <a:cs typeface="DM Sans"/>
                          <a:sym typeface="DM Sans"/>
                        </a:rPr>
                        <a:t>Setting</a:t>
                      </a:r>
                      <a:endParaRPr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9477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DM Sans"/>
                          <a:ea typeface="DM Sans"/>
                          <a:cs typeface="DM Sans"/>
                          <a:sym typeface="DM Sans"/>
                        </a:rPr>
                        <a:t>Meta LR</a:t>
                      </a:r>
                      <a:endParaRPr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9477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DM Sans"/>
                          <a:ea typeface="DM Sans"/>
                          <a:cs typeface="DM Sans"/>
                          <a:sym typeface="DM Sans"/>
                        </a:rPr>
                        <a:t>Inner LR</a:t>
                      </a:r>
                      <a:endParaRPr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9477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DM Sans"/>
                          <a:ea typeface="DM Sans"/>
                          <a:cs typeface="DM Sans"/>
                          <a:sym typeface="DM Sans"/>
                        </a:rPr>
                        <a:t>Iter.</a:t>
                      </a:r>
                      <a:endParaRPr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9477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DM Sans"/>
                          <a:ea typeface="DM Sans"/>
                          <a:cs typeface="DM Sans"/>
                          <a:sym typeface="DM Sans"/>
                        </a:rPr>
                        <a:t>Normalization                               Val</a:t>
                      </a:r>
                      <a:r>
                        <a:rPr lang="en-US" sz="1200">
                          <a:solidFill>
                            <a:srgbClr val="FFFFFF"/>
                          </a:solidFill>
                          <a:latin typeface="DM Sans"/>
                          <a:ea typeface="DM Sans"/>
                          <a:cs typeface="DM Sans"/>
                          <a:sym typeface="DM Sans"/>
                        </a:rPr>
                        <a:t> Acc                      Test Acc             Query Loss</a:t>
                      </a:r>
                      <a:endParaRPr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9477C"/>
                    </a:solidFill>
                  </a:tcPr>
                </a:tc>
              </a:tr>
              <a:tr h="668325">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Sine Regression</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0.1</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0.01</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70k</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N/A                                                   N/</a:t>
                      </a:r>
                      <a:r>
                        <a:rPr lang="en-US" sz="1300">
                          <a:solidFill>
                            <a:srgbClr val="1E293B"/>
                          </a:solidFill>
                          <a:latin typeface="DM Sans"/>
                          <a:ea typeface="DM Sans"/>
                          <a:cs typeface="DM Sans"/>
                          <a:sym typeface="DM Sans"/>
                        </a:rPr>
                        <a:t>A                          N/A                       N/A</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8325">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5-Way 1-Shot</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0.</a:t>
                      </a:r>
                      <a:r>
                        <a:rPr lang="en-US" sz="1300">
                          <a:solidFill>
                            <a:srgbClr val="1E293B"/>
                          </a:solidFill>
                          <a:latin typeface="DM Sans"/>
                          <a:ea typeface="DM Sans"/>
                          <a:cs typeface="DM Sans"/>
                          <a:sym typeface="DM Sans"/>
                        </a:rPr>
                        <a:t>33 -&gt; 0.0</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300">
                          <a:solidFill>
                            <a:srgbClr val="1E293B"/>
                          </a:solidFill>
                          <a:latin typeface="DM Sans"/>
                          <a:ea typeface="DM Sans"/>
                          <a:cs typeface="DM Sans"/>
                          <a:sym typeface="DM Sans"/>
                        </a:rPr>
                        <a:t>0.00044</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200k</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BatchNorm                                   </a:t>
                      </a:r>
                      <a:r>
                        <a:rPr b="1" lang="en-US" sz="1300">
                          <a:solidFill>
                            <a:srgbClr val="1E293B"/>
                          </a:solidFill>
                          <a:latin typeface="DM Sans"/>
                          <a:ea typeface="DM Sans"/>
                          <a:cs typeface="DM Sans"/>
                          <a:sym typeface="DM Sans"/>
                        </a:rPr>
                        <a:t>97.68%                       93.55%                  0.2325</a:t>
                      </a:r>
                      <a:endParaRPr b="1"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68325">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5-Way 5-Shot</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0.2 → 0.0</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0.001</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100k</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BatchNorm                                  </a:t>
                      </a:r>
                      <a:r>
                        <a:rPr lang="en-US" sz="1300">
                          <a:solidFill>
                            <a:srgbClr val="1E293B"/>
                          </a:solidFill>
                          <a:latin typeface="DM Sans"/>
                          <a:ea typeface="DM Sans"/>
                          <a:cs typeface="DM Sans"/>
                          <a:sym typeface="DM Sans"/>
                        </a:rPr>
                        <a:t> </a:t>
                      </a:r>
                      <a:r>
                        <a:rPr b="1" i="0" lang="en-US" sz="1300" u="none" cap="none" strike="noStrike">
                          <a:solidFill>
                            <a:srgbClr val="1E293B"/>
                          </a:solidFill>
                          <a:latin typeface="DM Sans"/>
                          <a:ea typeface="DM Sans"/>
                          <a:cs typeface="DM Sans"/>
                          <a:sym typeface="DM Sans"/>
                        </a:rPr>
                        <a:t>98.24%                     </a:t>
                      </a:r>
                      <a:r>
                        <a:rPr b="1" lang="en-US" sz="1300">
                          <a:solidFill>
                            <a:srgbClr val="1E293B"/>
                          </a:solidFill>
                          <a:latin typeface="DM Sans"/>
                          <a:ea typeface="DM Sans"/>
                          <a:cs typeface="DM Sans"/>
                          <a:sym typeface="DM Sans"/>
                        </a:rPr>
                        <a:t> </a:t>
                      </a:r>
                      <a:r>
                        <a:rPr b="1" i="0" lang="en-US" sz="1300" u="none" cap="none" strike="noStrike">
                          <a:solidFill>
                            <a:srgbClr val="1E293B"/>
                          </a:solidFill>
                          <a:latin typeface="DM Sans"/>
                          <a:ea typeface="DM Sans"/>
                          <a:cs typeface="DM Sans"/>
                          <a:sym typeface="DM Sans"/>
                        </a:rPr>
                        <a:t>9</a:t>
                      </a:r>
                      <a:r>
                        <a:rPr b="1" lang="en-US" sz="1300">
                          <a:solidFill>
                            <a:srgbClr val="1E293B"/>
                          </a:solidFill>
                          <a:latin typeface="DM Sans"/>
                          <a:ea typeface="DM Sans"/>
                          <a:cs typeface="DM Sans"/>
                          <a:sym typeface="DM Sans"/>
                        </a:rPr>
                        <a:t>7</a:t>
                      </a:r>
                      <a:r>
                        <a:rPr b="1" i="0" lang="en-US" sz="1300" u="none" cap="none" strike="noStrike">
                          <a:solidFill>
                            <a:srgbClr val="1E293B"/>
                          </a:solidFill>
                          <a:latin typeface="DM Sans"/>
                          <a:ea typeface="DM Sans"/>
                          <a:cs typeface="DM Sans"/>
                          <a:sym typeface="DM Sans"/>
                        </a:rPr>
                        <a:t>.</a:t>
                      </a:r>
                      <a:r>
                        <a:rPr b="1" lang="en-US" sz="1300">
                          <a:solidFill>
                            <a:srgbClr val="1E293B"/>
                          </a:solidFill>
                          <a:latin typeface="DM Sans"/>
                          <a:ea typeface="DM Sans"/>
                          <a:cs typeface="DM Sans"/>
                          <a:sym typeface="DM Sans"/>
                        </a:rPr>
                        <a:t>23%                  0.1212</a:t>
                      </a:r>
                      <a:endParaRPr b="1"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8325">
                <a:tc>
                  <a:txBody>
                    <a:bodyPr/>
                    <a:lstStyle/>
                    <a:p>
                      <a:pPr indent="0" lvl="0" marL="0" marR="0" rtl="0" algn="l">
                        <a:lnSpc>
                          <a:spcPct val="100000"/>
                        </a:lnSpc>
                        <a:spcBef>
                          <a:spcPts val="0"/>
                        </a:spcBef>
                        <a:spcAft>
                          <a:spcPts val="0"/>
                        </a:spcAft>
                        <a:buNone/>
                      </a:pPr>
                      <a:r>
                        <a:rPr lang="en-US" sz="1300">
                          <a:solidFill>
                            <a:srgbClr val="1E293B"/>
                          </a:solidFill>
                          <a:latin typeface="DM Sans"/>
                          <a:ea typeface="DM Sans"/>
                          <a:cs typeface="DM Sans"/>
                          <a:sym typeface="DM Sans"/>
                        </a:rPr>
                        <a:t>20-Way-1-Shot</a:t>
                      </a:r>
                      <a:endParaRPr b="0" i="0" sz="1300" u="none" cap="none" strike="noStrike">
                        <a:solidFill>
                          <a:srgbClr val="1E293B"/>
                        </a:solidFill>
                        <a:latin typeface="DM Sans"/>
                        <a:ea typeface="DM Sans"/>
                        <a:cs typeface="DM Sans"/>
                        <a:sym typeface="DM Sans"/>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None/>
                      </a:pPr>
                      <a:r>
                        <a:rPr lang="en-US" sz="1300">
                          <a:solidFill>
                            <a:srgbClr val="1E293B"/>
                          </a:solidFill>
                          <a:latin typeface="DM Sans"/>
                          <a:ea typeface="DM Sans"/>
                          <a:cs typeface="DM Sans"/>
                          <a:sym typeface="DM Sans"/>
                        </a:rPr>
                        <a:t>1.0 → 0.0</a:t>
                      </a:r>
                      <a:endParaRPr b="0" i="0" sz="1300" u="none" cap="none" strike="noStrike">
                        <a:solidFill>
                          <a:srgbClr val="1E293B"/>
                        </a:solidFill>
                        <a:latin typeface="DM Sans"/>
                        <a:ea typeface="DM Sans"/>
                        <a:cs typeface="DM Sans"/>
                        <a:sym typeface="DM Sans"/>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None/>
                      </a:pPr>
                      <a:r>
                        <a:rPr lang="en-US" sz="1300">
                          <a:solidFill>
                            <a:srgbClr val="1E293B"/>
                          </a:solidFill>
                          <a:latin typeface="DM Sans"/>
                          <a:ea typeface="DM Sans"/>
                          <a:cs typeface="DM Sans"/>
                          <a:sym typeface="DM Sans"/>
                        </a:rPr>
                        <a:t>0.4</a:t>
                      </a:r>
                      <a:endParaRPr b="0" i="0" sz="1300" u="none" cap="none" strike="noStrike">
                        <a:solidFill>
                          <a:srgbClr val="1E293B"/>
                        </a:solidFill>
                        <a:latin typeface="DM Sans"/>
                        <a:ea typeface="DM Sans"/>
                        <a:cs typeface="DM Sans"/>
                        <a:sym typeface="DM Sans"/>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None/>
                      </a:pPr>
                      <a:r>
                        <a:rPr lang="en-US" sz="1300">
                          <a:solidFill>
                            <a:srgbClr val="1E293B"/>
                          </a:solidFill>
                          <a:latin typeface="DM Sans"/>
                          <a:ea typeface="DM Sans"/>
                          <a:cs typeface="DM Sans"/>
                          <a:sym typeface="DM Sans"/>
                        </a:rPr>
                        <a:t>100k</a:t>
                      </a:r>
                      <a:endParaRPr b="0" i="0" sz="1300" u="none" cap="none" strike="noStrike">
                        <a:solidFill>
                          <a:srgbClr val="1E293B"/>
                        </a:solidFill>
                        <a:latin typeface="DM Sans"/>
                        <a:ea typeface="DM Sans"/>
                        <a:cs typeface="DM Sans"/>
                        <a:sym typeface="DM Sans"/>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None/>
                      </a:pPr>
                      <a:r>
                        <a:rPr lang="en-US" sz="1300">
                          <a:latin typeface="Arial"/>
                          <a:ea typeface="Arial"/>
                          <a:cs typeface="Arial"/>
                          <a:sym typeface="Arial"/>
                        </a:rPr>
                        <a:t>BatchNorm and Maxpool             </a:t>
                      </a:r>
                      <a:r>
                        <a:rPr b="1" lang="en-US" sz="1300">
                          <a:latin typeface="Arial"/>
                          <a:ea typeface="Arial"/>
                          <a:cs typeface="Arial"/>
                          <a:sym typeface="Arial"/>
                        </a:rPr>
                        <a:t>89.58%                   85.27%                0.5662</a:t>
                      </a:r>
                      <a:endParaRPr b="1" i="0" sz="1500" u="none" cap="none" strike="noStrike">
                        <a:solidFill>
                          <a:srgbClr val="1E293B"/>
                        </a:solidFill>
                        <a:latin typeface="DM Sans"/>
                        <a:ea typeface="DM Sans"/>
                        <a:cs typeface="DM Sans"/>
                        <a:sym typeface="DM Sans"/>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68325">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20-Way 5-Shot</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300">
                          <a:solidFill>
                            <a:srgbClr val="1E293B"/>
                          </a:solidFill>
                          <a:latin typeface="DM Sans"/>
                          <a:ea typeface="DM Sans"/>
                          <a:cs typeface="DM Sans"/>
                          <a:sym typeface="DM Sans"/>
                        </a:rPr>
                        <a:t>0.2</a:t>
                      </a:r>
                      <a:r>
                        <a:rPr b="0" i="0" lang="en-US" sz="1300" u="none" cap="none" strike="noStrike">
                          <a:solidFill>
                            <a:srgbClr val="1E293B"/>
                          </a:solidFill>
                          <a:latin typeface="DM Sans"/>
                          <a:ea typeface="DM Sans"/>
                          <a:cs typeface="DM Sans"/>
                          <a:sym typeface="DM Sans"/>
                        </a:rPr>
                        <a:t> → 0.0</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0.0005</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50k</a:t>
                      </a:r>
                      <a:endParaRPr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E293B"/>
                          </a:solidFill>
                          <a:latin typeface="DM Sans"/>
                          <a:ea typeface="DM Sans"/>
                          <a:cs typeface="DM Sans"/>
                          <a:sym typeface="DM Sans"/>
                        </a:rPr>
                        <a:t>BatchNorm                                   </a:t>
                      </a:r>
                      <a:r>
                        <a:rPr b="1" i="0" lang="en-US" sz="1300" u="none" cap="none" strike="noStrike">
                          <a:solidFill>
                            <a:srgbClr val="1E293B"/>
                          </a:solidFill>
                          <a:latin typeface="DM Sans"/>
                          <a:ea typeface="DM Sans"/>
                          <a:cs typeface="DM Sans"/>
                          <a:sym typeface="DM Sans"/>
                        </a:rPr>
                        <a:t>92.</a:t>
                      </a:r>
                      <a:r>
                        <a:rPr b="1" lang="en-US" sz="1300">
                          <a:solidFill>
                            <a:srgbClr val="1E293B"/>
                          </a:solidFill>
                          <a:latin typeface="DM Sans"/>
                          <a:ea typeface="DM Sans"/>
                          <a:cs typeface="DM Sans"/>
                          <a:sym typeface="DM Sans"/>
                        </a:rPr>
                        <a:t>29</a:t>
                      </a:r>
                      <a:r>
                        <a:rPr b="1" i="0" lang="en-US" sz="1300" u="none" cap="none" strike="noStrike">
                          <a:solidFill>
                            <a:srgbClr val="1E293B"/>
                          </a:solidFill>
                          <a:latin typeface="DM Sans"/>
                          <a:ea typeface="DM Sans"/>
                          <a:cs typeface="DM Sans"/>
                          <a:sym typeface="DM Sans"/>
                        </a:rPr>
                        <a:t>%                      88</a:t>
                      </a:r>
                      <a:r>
                        <a:rPr b="1" lang="en-US" sz="1300">
                          <a:solidFill>
                            <a:srgbClr val="1E293B"/>
                          </a:solidFill>
                          <a:latin typeface="DM Sans"/>
                          <a:ea typeface="DM Sans"/>
                          <a:cs typeface="DM Sans"/>
                          <a:sym typeface="DM Sans"/>
                        </a:rPr>
                        <a:t>.39%                  0.4914</a:t>
                      </a:r>
                      <a:endParaRPr b="1" sz="15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FD7E7"/>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pic>
        <p:nvPicPr>
          <p:cNvPr descr="image.png" id="254" name="Google Shape;254;p22"/>
          <p:cNvPicPr preferRelativeResize="0"/>
          <p:nvPr/>
        </p:nvPicPr>
        <p:blipFill rotWithShape="1">
          <a:blip r:embed="rId3">
            <a:alphaModFix/>
          </a:blip>
          <a:srcRect b="0" l="0" r="0" t="0"/>
          <a:stretch/>
        </p:blipFill>
        <p:spPr>
          <a:xfrm>
            <a:off x="-11865" y="0"/>
            <a:ext cx="12192000" cy="6858000"/>
          </a:xfrm>
          <a:prstGeom prst="rect">
            <a:avLst/>
          </a:prstGeom>
          <a:noFill/>
          <a:ln>
            <a:noFill/>
          </a:ln>
        </p:spPr>
      </p:pic>
      <p:sp>
        <p:nvSpPr>
          <p:cNvPr id="255" name="Google Shape;255;p22"/>
          <p:cNvSpPr/>
          <p:nvPr/>
        </p:nvSpPr>
        <p:spPr>
          <a:xfrm>
            <a:off x="148225" y="525925"/>
            <a:ext cx="7886700" cy="66600"/>
          </a:xfrm>
          <a:prstGeom prst="rect">
            <a:avLst/>
          </a:prstGeom>
          <a:solidFill>
            <a:srgbClr val="09477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6" name="Google Shape;256;p22"/>
          <p:cNvPicPr preferRelativeResize="0"/>
          <p:nvPr/>
        </p:nvPicPr>
        <p:blipFill rotWithShape="1">
          <a:blip r:embed="rId4">
            <a:alphaModFix/>
          </a:blip>
          <a:srcRect b="0" l="120" r="130" t="0"/>
          <a:stretch/>
        </p:blipFill>
        <p:spPr>
          <a:xfrm>
            <a:off x="989425" y="894150"/>
            <a:ext cx="3953100" cy="2660700"/>
          </a:xfrm>
          <a:prstGeom prst="rect">
            <a:avLst/>
          </a:prstGeom>
          <a:noFill/>
          <a:ln>
            <a:noFill/>
          </a:ln>
        </p:spPr>
      </p:pic>
      <p:pic>
        <p:nvPicPr>
          <p:cNvPr id="257" name="Google Shape;257;p22"/>
          <p:cNvPicPr preferRelativeResize="0"/>
          <p:nvPr/>
        </p:nvPicPr>
        <p:blipFill rotWithShape="1">
          <a:blip r:embed="rId5">
            <a:alphaModFix/>
          </a:blip>
          <a:srcRect b="0" l="120" r="130" t="0"/>
          <a:stretch/>
        </p:blipFill>
        <p:spPr>
          <a:xfrm>
            <a:off x="7448325" y="928350"/>
            <a:ext cx="3780900" cy="2544900"/>
          </a:xfrm>
          <a:prstGeom prst="rect">
            <a:avLst/>
          </a:prstGeom>
          <a:noFill/>
          <a:ln>
            <a:noFill/>
          </a:ln>
        </p:spPr>
      </p:pic>
      <p:pic>
        <p:nvPicPr>
          <p:cNvPr id="258" name="Google Shape;258;p22"/>
          <p:cNvPicPr preferRelativeResize="0"/>
          <p:nvPr/>
        </p:nvPicPr>
        <p:blipFill rotWithShape="1">
          <a:blip r:embed="rId6">
            <a:alphaModFix/>
          </a:blip>
          <a:srcRect b="0" l="3866" r="3866" t="0"/>
          <a:stretch/>
        </p:blipFill>
        <p:spPr>
          <a:xfrm>
            <a:off x="919525" y="4019700"/>
            <a:ext cx="3953100" cy="2660700"/>
          </a:xfrm>
          <a:prstGeom prst="rect">
            <a:avLst/>
          </a:prstGeom>
          <a:noFill/>
          <a:ln>
            <a:noFill/>
          </a:ln>
        </p:spPr>
      </p:pic>
      <p:pic>
        <p:nvPicPr>
          <p:cNvPr id="259" name="Google Shape;259;p22"/>
          <p:cNvPicPr preferRelativeResize="0"/>
          <p:nvPr/>
        </p:nvPicPr>
        <p:blipFill rotWithShape="1">
          <a:blip r:embed="rId7">
            <a:alphaModFix/>
          </a:blip>
          <a:srcRect b="0" l="3926" r="3926" t="0"/>
          <a:stretch/>
        </p:blipFill>
        <p:spPr>
          <a:xfrm>
            <a:off x="7362225" y="4019700"/>
            <a:ext cx="3953100" cy="2660700"/>
          </a:xfrm>
          <a:prstGeom prst="rect">
            <a:avLst/>
          </a:prstGeom>
          <a:noFill/>
          <a:ln>
            <a:noFill/>
          </a:ln>
        </p:spPr>
      </p:pic>
      <p:sp>
        <p:nvSpPr>
          <p:cNvPr id="260" name="Google Shape;260;p22"/>
          <p:cNvSpPr txBox="1"/>
          <p:nvPr/>
        </p:nvSpPr>
        <p:spPr>
          <a:xfrm>
            <a:off x="1856925" y="654475"/>
            <a:ext cx="24765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400">
                <a:solidFill>
                  <a:srgbClr val="09477C"/>
                </a:solidFill>
                <a:latin typeface="DM Sans"/>
                <a:ea typeface="DM Sans"/>
                <a:cs typeface="DM Sans"/>
                <a:sym typeface="DM Sans"/>
              </a:rPr>
              <a:t>5-Way 1-Shot</a:t>
            </a:r>
            <a:endParaRPr b="1" sz="1400">
              <a:solidFill>
                <a:srgbClr val="09477C"/>
              </a:solidFill>
              <a:latin typeface="DM Sans"/>
              <a:ea typeface="DM Sans"/>
              <a:cs typeface="DM Sans"/>
              <a:sym typeface="DM Sans"/>
            </a:endParaRPr>
          </a:p>
        </p:txBody>
      </p:sp>
      <p:sp>
        <p:nvSpPr>
          <p:cNvPr id="261" name="Google Shape;261;p22"/>
          <p:cNvSpPr txBox="1"/>
          <p:nvPr/>
        </p:nvSpPr>
        <p:spPr>
          <a:xfrm>
            <a:off x="1727725" y="3692625"/>
            <a:ext cx="24765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400">
                <a:solidFill>
                  <a:srgbClr val="09477C"/>
                </a:solidFill>
                <a:latin typeface="DM Sans"/>
                <a:ea typeface="DM Sans"/>
                <a:cs typeface="DM Sans"/>
                <a:sym typeface="DM Sans"/>
              </a:rPr>
              <a:t>5-Way 5-Shot</a:t>
            </a:r>
            <a:endParaRPr b="1" sz="1400">
              <a:solidFill>
                <a:srgbClr val="09477C"/>
              </a:solidFill>
              <a:latin typeface="DM Sans"/>
              <a:ea typeface="DM Sans"/>
              <a:cs typeface="DM Sans"/>
              <a:sym typeface="DM Sans"/>
            </a:endParaRPr>
          </a:p>
        </p:txBody>
      </p:sp>
      <p:sp>
        <p:nvSpPr>
          <p:cNvPr id="262" name="Google Shape;262;p22"/>
          <p:cNvSpPr txBox="1"/>
          <p:nvPr/>
        </p:nvSpPr>
        <p:spPr>
          <a:xfrm>
            <a:off x="8100525" y="723925"/>
            <a:ext cx="24765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400">
                <a:solidFill>
                  <a:srgbClr val="09477C"/>
                </a:solidFill>
                <a:latin typeface="DM Sans"/>
                <a:ea typeface="DM Sans"/>
                <a:cs typeface="DM Sans"/>
                <a:sym typeface="DM Sans"/>
              </a:rPr>
              <a:t>20-Way 1-Shot</a:t>
            </a:r>
            <a:endParaRPr b="1" sz="1400">
              <a:solidFill>
                <a:srgbClr val="09477C"/>
              </a:solidFill>
              <a:latin typeface="DM Sans"/>
              <a:ea typeface="DM Sans"/>
              <a:cs typeface="DM Sans"/>
              <a:sym typeface="DM Sans"/>
            </a:endParaRPr>
          </a:p>
        </p:txBody>
      </p:sp>
      <p:sp>
        <p:nvSpPr>
          <p:cNvPr id="263" name="Google Shape;263;p22"/>
          <p:cNvSpPr txBox="1"/>
          <p:nvPr/>
        </p:nvSpPr>
        <p:spPr>
          <a:xfrm>
            <a:off x="7925800" y="3692625"/>
            <a:ext cx="24765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400">
                <a:solidFill>
                  <a:srgbClr val="09477C"/>
                </a:solidFill>
                <a:latin typeface="DM Sans"/>
                <a:ea typeface="DM Sans"/>
                <a:cs typeface="DM Sans"/>
                <a:sym typeface="DM Sans"/>
              </a:rPr>
              <a:t>20-Way 5-Shot</a:t>
            </a:r>
            <a:endParaRPr b="1" sz="1400">
              <a:solidFill>
                <a:srgbClr val="09477C"/>
              </a:solidFill>
              <a:latin typeface="DM Sans"/>
              <a:ea typeface="DM Sans"/>
              <a:cs typeface="DM Sans"/>
              <a:sym typeface="DM Sans"/>
            </a:endParaRPr>
          </a:p>
        </p:txBody>
      </p:sp>
      <p:sp>
        <p:nvSpPr>
          <p:cNvPr id="264" name="Google Shape;264;p22"/>
          <p:cNvSpPr txBox="1"/>
          <p:nvPr/>
        </p:nvSpPr>
        <p:spPr>
          <a:xfrm>
            <a:off x="230825" y="96625"/>
            <a:ext cx="7620000" cy="448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914">
                <a:solidFill>
                  <a:srgbClr val="09477C"/>
                </a:solidFill>
                <a:latin typeface="Merriweather"/>
                <a:ea typeface="Merriweather"/>
                <a:cs typeface="Merriweather"/>
                <a:sym typeface="Merriweather"/>
              </a:rPr>
              <a:t>Evaluation Accuracy Performance Plots</a:t>
            </a:r>
            <a:endParaRPr b="1" sz="2914">
              <a:solidFill>
                <a:srgbClr val="09477C"/>
              </a:solidFill>
              <a:latin typeface="Merriweather"/>
              <a:ea typeface="Merriweather"/>
              <a:cs typeface="Merriweather"/>
              <a:sym typeface="Merriweath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pic>
        <p:nvPicPr>
          <p:cNvPr descr="image.png" id="269" name="Google Shape;269;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0" name="Google Shape;270;p23"/>
          <p:cNvPicPr preferRelativeResize="0"/>
          <p:nvPr/>
        </p:nvPicPr>
        <p:blipFill rotWithShape="1">
          <a:blip r:embed="rId4">
            <a:alphaModFix/>
          </a:blip>
          <a:srcRect b="0" l="0" r="0" t="0"/>
          <a:stretch/>
        </p:blipFill>
        <p:spPr>
          <a:xfrm>
            <a:off x="571500" y="1381125"/>
            <a:ext cx="5381625" cy="3467100"/>
          </a:xfrm>
          <a:prstGeom prst="rect">
            <a:avLst/>
          </a:prstGeom>
          <a:noFill/>
          <a:ln>
            <a:noFill/>
          </a:ln>
        </p:spPr>
      </p:pic>
      <p:pic>
        <p:nvPicPr>
          <p:cNvPr descr="image.png" id="271" name="Google Shape;271;p23"/>
          <p:cNvPicPr preferRelativeResize="0"/>
          <p:nvPr/>
        </p:nvPicPr>
        <p:blipFill rotWithShape="1">
          <a:blip r:embed="rId5">
            <a:alphaModFix/>
          </a:blip>
          <a:srcRect b="0" l="0" r="0" t="0"/>
          <a:stretch/>
        </p:blipFill>
        <p:spPr>
          <a:xfrm>
            <a:off x="6238875" y="1381125"/>
            <a:ext cx="5381625" cy="3467100"/>
          </a:xfrm>
          <a:prstGeom prst="rect">
            <a:avLst/>
          </a:prstGeom>
          <a:noFill/>
          <a:ln>
            <a:noFill/>
          </a:ln>
        </p:spPr>
      </p:pic>
      <p:sp>
        <p:nvSpPr>
          <p:cNvPr id="272" name="Google Shape;272;p23"/>
          <p:cNvSpPr txBox="1"/>
          <p:nvPr/>
        </p:nvSpPr>
        <p:spPr>
          <a:xfrm>
            <a:off x="571500" y="571500"/>
            <a:ext cx="10700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50">
                <a:solidFill>
                  <a:srgbClr val="09477C"/>
                </a:solidFill>
                <a:latin typeface="Merriweather"/>
                <a:ea typeface="Merriweather"/>
                <a:cs typeface="Merriweather"/>
                <a:sym typeface="Merriweather"/>
              </a:rPr>
              <a:t>Discussion : </a:t>
            </a:r>
            <a:r>
              <a:rPr b="1" i="0" lang="en-US" sz="2850" u="none" cap="none" strike="noStrike">
                <a:solidFill>
                  <a:srgbClr val="09477C"/>
                </a:solidFill>
                <a:latin typeface="Merriweather"/>
                <a:ea typeface="Merriweather"/>
                <a:cs typeface="Merriweather"/>
                <a:sym typeface="Merriweather"/>
              </a:rPr>
              <a:t>Implementation Challenges &amp; Solutions </a:t>
            </a:r>
            <a:endParaRPr/>
          </a:p>
        </p:txBody>
      </p:sp>
      <p:sp>
        <p:nvSpPr>
          <p:cNvPr id="273" name="Google Shape;273;p23"/>
          <p:cNvSpPr/>
          <p:nvPr/>
        </p:nvSpPr>
        <p:spPr>
          <a:xfrm>
            <a:off x="571500" y="1114425"/>
            <a:ext cx="7981950"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4" name="Google Shape;274;p23"/>
          <p:cNvPicPr preferRelativeResize="0"/>
          <p:nvPr/>
        </p:nvPicPr>
        <p:blipFill rotWithShape="1">
          <a:blip r:embed="rId6">
            <a:alphaModFix/>
          </a:blip>
          <a:srcRect b="0" l="0" r="0" t="0"/>
          <a:stretch/>
        </p:blipFill>
        <p:spPr>
          <a:xfrm>
            <a:off x="800100" y="5772150"/>
            <a:ext cx="228600" cy="228600"/>
          </a:xfrm>
          <a:prstGeom prst="rect">
            <a:avLst/>
          </a:prstGeom>
          <a:noFill/>
          <a:ln>
            <a:noFill/>
          </a:ln>
        </p:spPr>
      </p:pic>
      <p:sp>
        <p:nvSpPr>
          <p:cNvPr id="275" name="Google Shape;275;p23"/>
          <p:cNvSpPr txBox="1"/>
          <p:nvPr/>
        </p:nvSpPr>
        <p:spPr>
          <a:xfrm>
            <a:off x="1171575" y="5657850"/>
            <a:ext cx="102774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9477C"/>
                </a:solidFill>
                <a:latin typeface="DM Sans"/>
                <a:ea typeface="DM Sans"/>
                <a:cs typeface="DM Sans"/>
                <a:sym typeface="DM Sans"/>
              </a:rPr>
              <a:t>Analysis Insight:</a:t>
            </a:r>
            <a:r>
              <a:rPr b="0" i="0" lang="en-US" sz="1200" u="none" cap="none" strike="noStrike">
                <a:solidFill>
                  <a:srgbClr val="09477C"/>
                </a:solidFill>
                <a:latin typeface="DM Sans Medium"/>
                <a:ea typeface="DM Sans Medium"/>
                <a:cs typeface="DM Sans Medium"/>
                <a:sym typeface="DM Sans Medium"/>
              </a:rPr>
              <a:t> </a:t>
            </a:r>
            <a:r>
              <a:rPr lang="en-US" sz="1200">
                <a:solidFill>
                  <a:srgbClr val="09477C"/>
                </a:solidFill>
                <a:latin typeface="DM Sans Medium"/>
                <a:ea typeface="DM Sans Medium"/>
                <a:cs typeface="DM Sans Medium"/>
                <a:sym typeface="DM Sans Medium"/>
              </a:rPr>
              <a:t>Reptile is simple mathematically, but strong performance depends heavily on correct inner-loop semantics, stable meta-learning-rate scheduling, and long enough training.</a:t>
            </a:r>
            <a:endParaRPr/>
          </a:p>
        </p:txBody>
      </p:sp>
      <p:sp>
        <p:nvSpPr>
          <p:cNvPr id="276" name="Google Shape;276;p23"/>
          <p:cNvSpPr txBox="1"/>
          <p:nvPr/>
        </p:nvSpPr>
        <p:spPr>
          <a:xfrm>
            <a:off x="1123950" y="1628775"/>
            <a:ext cx="4840605" cy="247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477C"/>
                </a:solidFill>
                <a:latin typeface="DM Sans"/>
                <a:ea typeface="DM Sans"/>
                <a:cs typeface="DM Sans"/>
                <a:sym typeface="DM Sans"/>
              </a:rPr>
              <a:t>Challenge: Inner-Loop Step Misinterpretation</a:t>
            </a:r>
            <a:endParaRPr/>
          </a:p>
        </p:txBody>
      </p:sp>
      <p:sp>
        <p:nvSpPr>
          <p:cNvPr id="277" name="Google Shape;277;p23"/>
          <p:cNvSpPr txBox="1"/>
          <p:nvPr/>
        </p:nvSpPr>
        <p:spPr>
          <a:xfrm>
            <a:off x="790575" y="1971675"/>
            <a:ext cx="4943475"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64748B"/>
                </a:solidFill>
                <a:latin typeface="DM Sans"/>
                <a:ea typeface="DM Sans"/>
                <a:cs typeface="DM Sans"/>
                <a:sym typeface="DM Sans"/>
              </a:rPr>
              <a:t>Initially, inner loop "steps" were treated as full epochs/passes over the support set.</a:t>
            </a:r>
            <a:endParaRPr/>
          </a:p>
        </p:txBody>
      </p:sp>
      <p:sp>
        <p:nvSpPr>
          <p:cNvPr id="278" name="Google Shape;278;p23"/>
          <p:cNvSpPr txBox="1"/>
          <p:nvPr/>
        </p:nvSpPr>
        <p:spPr>
          <a:xfrm>
            <a:off x="790575" y="3641055"/>
            <a:ext cx="4943400" cy="1731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09477C"/>
                </a:solidFill>
                <a:latin typeface="DM Sans"/>
                <a:ea typeface="DM Sans"/>
                <a:cs typeface="DM Sans"/>
                <a:sym typeface="DM Sans"/>
              </a:rPr>
              <a:t>The Solution:</a:t>
            </a:r>
            <a:endParaRPr/>
          </a:p>
        </p:txBody>
      </p:sp>
      <p:sp>
        <p:nvSpPr>
          <p:cNvPr id="279" name="Google Shape;279;p23"/>
          <p:cNvSpPr txBox="1"/>
          <p:nvPr/>
        </p:nvSpPr>
        <p:spPr>
          <a:xfrm>
            <a:off x="6743700" y="1628775"/>
            <a:ext cx="4890611" cy="247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477C"/>
                </a:solidFill>
                <a:latin typeface="DM Sans"/>
                <a:ea typeface="DM Sans"/>
                <a:cs typeface="DM Sans"/>
                <a:sym typeface="DM Sans"/>
              </a:rPr>
              <a:t>Challenge: Meta-LR Plateaus &amp; Session Limits</a:t>
            </a:r>
            <a:endParaRPr/>
          </a:p>
        </p:txBody>
      </p:sp>
      <p:sp>
        <p:nvSpPr>
          <p:cNvPr id="280" name="Google Shape;280;p23"/>
          <p:cNvSpPr txBox="1"/>
          <p:nvPr/>
        </p:nvSpPr>
        <p:spPr>
          <a:xfrm>
            <a:off x="6457950" y="1971675"/>
            <a:ext cx="4943475"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64748B"/>
                </a:solidFill>
                <a:latin typeface="DM Sans"/>
                <a:ea typeface="DM Sans"/>
                <a:cs typeface="DM Sans"/>
                <a:sym typeface="DM Sans"/>
              </a:rPr>
              <a:t>Fixed meta-learning rates were either too slow or caused catastrophic training collapse.</a:t>
            </a:r>
            <a:endParaRPr/>
          </a:p>
        </p:txBody>
      </p:sp>
      <p:sp>
        <p:nvSpPr>
          <p:cNvPr id="281" name="Google Shape;281;p23"/>
          <p:cNvSpPr txBox="1"/>
          <p:nvPr/>
        </p:nvSpPr>
        <p:spPr>
          <a:xfrm>
            <a:off x="6457950" y="3462337"/>
            <a:ext cx="49434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09477C"/>
                </a:solidFill>
                <a:latin typeface="DM Sans"/>
                <a:ea typeface="DM Sans"/>
                <a:cs typeface="DM Sans"/>
                <a:sym typeface="DM Sans"/>
              </a:rPr>
              <a:t>The Solution:</a:t>
            </a:r>
            <a:endParaRPr/>
          </a:p>
        </p:txBody>
      </p:sp>
      <p:pic>
        <p:nvPicPr>
          <p:cNvPr descr="image.png" id="282" name="Google Shape;282;p23"/>
          <p:cNvPicPr preferRelativeResize="0"/>
          <p:nvPr/>
        </p:nvPicPr>
        <p:blipFill rotWithShape="1">
          <a:blip r:embed="rId7">
            <a:alphaModFix/>
          </a:blip>
          <a:srcRect b="0" l="0" r="0" t="0"/>
          <a:stretch/>
        </p:blipFill>
        <p:spPr>
          <a:xfrm>
            <a:off x="790575" y="1657350"/>
            <a:ext cx="238125" cy="190500"/>
          </a:xfrm>
          <a:prstGeom prst="rect">
            <a:avLst/>
          </a:prstGeom>
          <a:noFill/>
          <a:ln>
            <a:noFill/>
          </a:ln>
        </p:spPr>
      </p:pic>
      <p:sp>
        <p:nvSpPr>
          <p:cNvPr id="283" name="Google Shape;283;p23"/>
          <p:cNvSpPr txBox="1"/>
          <p:nvPr/>
        </p:nvSpPr>
        <p:spPr>
          <a:xfrm>
            <a:off x="1019175" y="2514600"/>
            <a:ext cx="4714800" cy="4329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Consequence:</a:t>
            </a:r>
            <a:r>
              <a:rPr b="0" i="0" lang="en-US" sz="1125" u="none" cap="none" strike="noStrike">
                <a:solidFill>
                  <a:srgbClr val="1E293B"/>
                </a:solidFill>
                <a:latin typeface="DM Sans"/>
                <a:ea typeface="DM Sans"/>
                <a:cs typeface="DM Sans"/>
                <a:sym typeface="DM Sans"/>
              </a:rPr>
              <a:t> </a:t>
            </a:r>
            <a:r>
              <a:rPr lang="en-US" sz="1125">
                <a:solidFill>
                  <a:srgbClr val="1E293B"/>
                </a:solidFill>
                <a:latin typeface="DM Sans"/>
                <a:ea typeface="DM Sans"/>
                <a:cs typeface="DM Sans"/>
                <a:sym typeface="DM Sans"/>
              </a:rPr>
              <a:t>This caused too many optimisation updates when support sets were split into mini-batches.</a:t>
            </a:r>
            <a:endParaRPr/>
          </a:p>
        </p:txBody>
      </p:sp>
      <p:sp>
        <p:nvSpPr>
          <p:cNvPr id="284" name="Google Shape;284;p23"/>
          <p:cNvSpPr txBox="1"/>
          <p:nvPr/>
        </p:nvSpPr>
        <p:spPr>
          <a:xfrm>
            <a:off x="1019175" y="3038475"/>
            <a:ext cx="4714800" cy="4329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Impact:</a:t>
            </a:r>
            <a:r>
              <a:rPr b="0" i="0" lang="en-US" sz="1125" u="none" cap="none" strike="noStrike">
                <a:solidFill>
                  <a:srgbClr val="1E293B"/>
                </a:solidFill>
                <a:latin typeface="DM Sans"/>
                <a:ea typeface="DM Sans"/>
                <a:cs typeface="DM Sans"/>
                <a:sym typeface="DM Sans"/>
              </a:rPr>
              <a:t> The model overfitted strongly to the support sets, making validation and query loss curve </a:t>
            </a:r>
            <a:r>
              <a:rPr lang="en-US" sz="1125">
                <a:solidFill>
                  <a:srgbClr val="1E293B"/>
                </a:solidFill>
                <a:latin typeface="DM Sans"/>
                <a:ea typeface="DM Sans"/>
                <a:cs typeface="DM Sans"/>
                <a:sym typeface="DM Sans"/>
              </a:rPr>
              <a:t>behaviour</a:t>
            </a:r>
            <a:r>
              <a:rPr b="0" i="0" lang="en-US" sz="1125" u="none" cap="none" strike="noStrike">
                <a:solidFill>
                  <a:srgbClr val="1E293B"/>
                </a:solidFill>
                <a:latin typeface="DM Sans"/>
                <a:ea typeface="DM Sans"/>
                <a:cs typeface="DM Sans"/>
                <a:sym typeface="DM Sans"/>
              </a:rPr>
              <a:t> highly unstable.</a:t>
            </a:r>
            <a:endParaRPr/>
          </a:p>
        </p:txBody>
      </p:sp>
      <p:sp>
        <p:nvSpPr>
          <p:cNvPr id="285" name="Google Shape;285;p23"/>
          <p:cNvSpPr txBox="1"/>
          <p:nvPr/>
        </p:nvSpPr>
        <p:spPr>
          <a:xfrm>
            <a:off x="1019175" y="3890962"/>
            <a:ext cx="4714800" cy="934800"/>
          </a:xfrm>
          <a:prstGeom prst="rect">
            <a:avLst/>
          </a:prstGeom>
          <a:noFill/>
          <a:ln>
            <a:noFill/>
          </a:ln>
        </p:spPr>
        <p:txBody>
          <a:bodyPr anchorCtr="0" anchor="t" bIns="0" lIns="0" spcFirstLastPara="1" rIns="0" wrap="square" tIns="0">
            <a:spAutoFit/>
          </a:bodyPr>
          <a:lstStyle/>
          <a:p>
            <a:pPr indent="0" lvl="0" marL="0" rtl="0" algn="l">
              <a:lnSpc>
                <a:spcPct val="149955"/>
              </a:lnSpc>
              <a:spcBef>
                <a:spcPts val="0"/>
              </a:spcBef>
              <a:spcAft>
                <a:spcPts val="0"/>
              </a:spcAft>
              <a:buClr>
                <a:schemeClr val="dk1"/>
              </a:buClr>
              <a:buSzPts val="1100"/>
              <a:buFont typeface="Arial"/>
              <a:buNone/>
            </a:pPr>
            <a:r>
              <a:rPr lang="en-US" sz="1100">
                <a:solidFill>
                  <a:schemeClr val="dk1"/>
                </a:solidFill>
              </a:rPr>
              <a:t>Corrected the meaning of </a:t>
            </a:r>
            <a:r>
              <a:rPr lang="en-US" sz="1100">
                <a:solidFill>
                  <a:srgbClr val="188038"/>
                </a:solidFill>
                <a:latin typeface="Roboto Mono"/>
                <a:ea typeface="Roboto Mono"/>
                <a:cs typeface="Roboto Mono"/>
                <a:sym typeface="Roboto Mono"/>
              </a:rPr>
              <a:t>inner_steps</a:t>
            </a:r>
            <a:r>
              <a:rPr lang="en-US" sz="1100">
                <a:solidFill>
                  <a:schemeClr val="dk1"/>
                </a:solidFill>
              </a:rPr>
              <a:t>.</a:t>
            </a:r>
            <a:endParaRPr sz="1100">
              <a:solidFill>
                <a:schemeClr val="dk1"/>
              </a:solidFill>
            </a:endParaRPr>
          </a:p>
          <a:p>
            <a:pPr indent="0" lvl="0" marL="0" rtl="0" algn="l">
              <a:lnSpc>
                <a:spcPct val="149955"/>
              </a:lnSpc>
              <a:spcBef>
                <a:spcPts val="0"/>
              </a:spcBef>
              <a:spcAft>
                <a:spcPts val="0"/>
              </a:spcAft>
              <a:buClr>
                <a:schemeClr val="dk1"/>
              </a:buClr>
              <a:buSzPts val="1100"/>
              <a:buFont typeface="Arial"/>
              <a:buNone/>
            </a:pPr>
            <a:r>
              <a:rPr lang="en-US" sz="1100">
                <a:solidFill>
                  <a:schemeClr val="dk1"/>
                </a:solidFill>
              </a:rPr>
              <a:t>One inner step = one mini-batch optimiser update.</a:t>
            </a:r>
            <a:endParaRPr sz="1100">
              <a:solidFill>
                <a:schemeClr val="dk1"/>
              </a:solidFill>
            </a:endParaRPr>
          </a:p>
          <a:p>
            <a:pPr indent="0" lvl="0" marL="0" rtl="0" algn="l">
              <a:lnSpc>
                <a:spcPct val="149955"/>
              </a:lnSpc>
              <a:spcBef>
                <a:spcPts val="0"/>
              </a:spcBef>
              <a:spcAft>
                <a:spcPts val="0"/>
              </a:spcAft>
              <a:buClr>
                <a:schemeClr val="dk1"/>
              </a:buClr>
              <a:buSzPts val="1100"/>
              <a:buFont typeface="Arial"/>
              <a:buNone/>
            </a:pPr>
            <a:r>
              <a:rPr lang="en-US" sz="1100">
                <a:solidFill>
                  <a:schemeClr val="dk1"/>
                </a:solidFill>
              </a:rPr>
              <a:t>This made validation/query behaviour more stable.</a:t>
            </a:r>
            <a:endParaRPr sz="1100">
              <a:solidFill>
                <a:schemeClr val="dk1"/>
              </a:solidFill>
            </a:endParaRPr>
          </a:p>
          <a:p>
            <a:pPr indent="0" lvl="0" marL="0" marR="0" rtl="0" algn="l">
              <a:lnSpc>
                <a:spcPct val="149955"/>
              </a:lnSpc>
              <a:spcBef>
                <a:spcPts val="0"/>
              </a:spcBef>
              <a:spcAft>
                <a:spcPts val="0"/>
              </a:spcAft>
              <a:buNone/>
            </a:pPr>
            <a:r>
              <a:t/>
            </a:r>
            <a:endParaRPr sz="1125">
              <a:solidFill>
                <a:srgbClr val="1E293B"/>
              </a:solidFill>
              <a:latin typeface="DM Sans"/>
              <a:ea typeface="DM Sans"/>
              <a:cs typeface="DM Sans"/>
              <a:sym typeface="DM Sans"/>
            </a:endParaRPr>
          </a:p>
        </p:txBody>
      </p:sp>
      <p:pic>
        <p:nvPicPr>
          <p:cNvPr descr="image.png" id="286" name="Google Shape;286;p23"/>
          <p:cNvPicPr preferRelativeResize="0"/>
          <p:nvPr/>
        </p:nvPicPr>
        <p:blipFill rotWithShape="1">
          <a:blip r:embed="rId8">
            <a:alphaModFix/>
          </a:blip>
          <a:srcRect b="0" l="0" r="0" t="0"/>
          <a:stretch/>
        </p:blipFill>
        <p:spPr>
          <a:xfrm>
            <a:off x="6457950" y="1657350"/>
            <a:ext cx="190500" cy="190500"/>
          </a:xfrm>
          <a:prstGeom prst="rect">
            <a:avLst/>
          </a:prstGeom>
          <a:noFill/>
          <a:ln>
            <a:noFill/>
          </a:ln>
        </p:spPr>
      </p:pic>
      <p:sp>
        <p:nvSpPr>
          <p:cNvPr id="287" name="Google Shape;287;p23"/>
          <p:cNvSpPr txBox="1"/>
          <p:nvPr/>
        </p:nvSpPr>
        <p:spPr>
          <a:xfrm>
            <a:off x="6686550" y="2514600"/>
            <a:ext cx="4714875"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1E293B"/>
                </a:solidFill>
                <a:latin typeface="DM Sans"/>
                <a:ea typeface="DM Sans"/>
                <a:cs typeface="DM Sans"/>
                <a:sym typeface="DM Sans"/>
              </a:rPr>
              <a:t>Early runs proved that standard 10K iterations plateaued before acquiring robust generic features.</a:t>
            </a:r>
            <a:endParaRPr/>
          </a:p>
        </p:txBody>
      </p:sp>
      <p:sp>
        <p:nvSpPr>
          <p:cNvPr id="288" name="Google Shape;288;p23"/>
          <p:cNvSpPr txBox="1"/>
          <p:nvPr/>
        </p:nvSpPr>
        <p:spPr>
          <a:xfrm>
            <a:off x="6686550" y="3038475"/>
            <a:ext cx="47148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1E293B"/>
                </a:solidFill>
                <a:latin typeface="DM Sans"/>
                <a:ea typeface="DM Sans"/>
                <a:cs typeface="DM Sans"/>
                <a:sym typeface="DM Sans"/>
              </a:rPr>
              <a:t>Kaggle session limits repeatedly cut off long-run execution paths.</a:t>
            </a:r>
            <a:endParaRPr/>
          </a:p>
        </p:txBody>
      </p:sp>
      <p:sp>
        <p:nvSpPr>
          <p:cNvPr id="289" name="Google Shape;289;p23"/>
          <p:cNvSpPr txBox="1"/>
          <p:nvPr/>
        </p:nvSpPr>
        <p:spPr>
          <a:xfrm>
            <a:off x="6686550" y="3676650"/>
            <a:ext cx="4714875"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1E293B"/>
                </a:solidFill>
                <a:latin typeface="DM Sans"/>
                <a:ea typeface="DM Sans"/>
                <a:cs typeface="DM Sans"/>
                <a:sym typeface="DM Sans"/>
              </a:rPr>
              <a:t>Implemented </a:t>
            </a:r>
            <a:r>
              <a:rPr b="1" i="0" lang="en-US" sz="1125" u="none" cap="none" strike="noStrike">
                <a:solidFill>
                  <a:srgbClr val="1E293B"/>
                </a:solidFill>
                <a:latin typeface="DM Sans"/>
                <a:ea typeface="DM Sans"/>
                <a:cs typeface="DM Sans"/>
                <a:sym typeface="DM Sans"/>
              </a:rPr>
              <a:t>Linear Learning Rate Annealing</a:t>
            </a:r>
            <a:r>
              <a:rPr b="0" i="0" lang="en-US" sz="1125" u="none" cap="none" strike="noStrike">
                <a:solidFill>
                  <a:srgbClr val="1E293B"/>
                </a:solidFill>
                <a:latin typeface="DM Sans"/>
                <a:ea typeface="DM Sans"/>
                <a:cs typeface="DM Sans"/>
                <a:sym typeface="DM Sans"/>
              </a:rPr>
              <a:t> (0.2 → 0.0 for 5-way; 1.0 → 0.0 for 20-way) alongside serialization checkpoints to allow 100K+ iterations.</a:t>
            </a:r>
            <a:endParaRPr/>
          </a:p>
        </p:txBody>
      </p:sp>
      <p:pic>
        <p:nvPicPr>
          <p:cNvPr descr="image.png" id="290" name="Google Shape;290;p23"/>
          <p:cNvPicPr preferRelativeResize="0"/>
          <p:nvPr/>
        </p:nvPicPr>
        <p:blipFill rotWithShape="1">
          <a:blip r:embed="rId9">
            <a:alphaModFix/>
          </a:blip>
          <a:srcRect b="0" l="0" r="0" t="0"/>
          <a:stretch/>
        </p:blipFill>
        <p:spPr>
          <a:xfrm>
            <a:off x="790575" y="2533650"/>
            <a:ext cx="104775" cy="142875"/>
          </a:xfrm>
          <a:prstGeom prst="rect">
            <a:avLst/>
          </a:prstGeom>
          <a:noFill/>
          <a:ln>
            <a:noFill/>
          </a:ln>
        </p:spPr>
      </p:pic>
      <p:pic>
        <p:nvPicPr>
          <p:cNvPr descr="image.png" id="291" name="Google Shape;291;p23"/>
          <p:cNvPicPr preferRelativeResize="0"/>
          <p:nvPr/>
        </p:nvPicPr>
        <p:blipFill rotWithShape="1">
          <a:blip r:embed="rId9">
            <a:alphaModFix/>
          </a:blip>
          <a:srcRect b="0" l="0" r="0" t="0"/>
          <a:stretch/>
        </p:blipFill>
        <p:spPr>
          <a:xfrm>
            <a:off x="790575" y="3057525"/>
            <a:ext cx="104775" cy="142875"/>
          </a:xfrm>
          <a:prstGeom prst="rect">
            <a:avLst/>
          </a:prstGeom>
          <a:noFill/>
          <a:ln>
            <a:noFill/>
          </a:ln>
        </p:spPr>
      </p:pic>
      <p:pic>
        <p:nvPicPr>
          <p:cNvPr descr="image.png" id="292" name="Google Shape;292;p23"/>
          <p:cNvPicPr preferRelativeResize="0"/>
          <p:nvPr/>
        </p:nvPicPr>
        <p:blipFill rotWithShape="1">
          <a:blip r:embed="rId10">
            <a:alphaModFix/>
          </a:blip>
          <a:srcRect b="0" l="0" r="0" t="0"/>
          <a:stretch/>
        </p:blipFill>
        <p:spPr>
          <a:xfrm>
            <a:off x="790575" y="3910012"/>
            <a:ext cx="114300" cy="142875"/>
          </a:xfrm>
          <a:prstGeom prst="rect">
            <a:avLst/>
          </a:prstGeom>
          <a:noFill/>
          <a:ln>
            <a:noFill/>
          </a:ln>
        </p:spPr>
      </p:pic>
      <p:pic>
        <p:nvPicPr>
          <p:cNvPr descr="image.png" id="293" name="Google Shape;293;p23"/>
          <p:cNvPicPr preferRelativeResize="0"/>
          <p:nvPr/>
        </p:nvPicPr>
        <p:blipFill rotWithShape="1">
          <a:blip r:embed="rId9">
            <a:alphaModFix/>
          </a:blip>
          <a:srcRect b="0" l="0" r="0" t="0"/>
          <a:stretch/>
        </p:blipFill>
        <p:spPr>
          <a:xfrm>
            <a:off x="6457950" y="2533650"/>
            <a:ext cx="104775" cy="142875"/>
          </a:xfrm>
          <a:prstGeom prst="rect">
            <a:avLst/>
          </a:prstGeom>
          <a:noFill/>
          <a:ln>
            <a:noFill/>
          </a:ln>
        </p:spPr>
      </p:pic>
      <p:pic>
        <p:nvPicPr>
          <p:cNvPr descr="image.png" id="294" name="Google Shape;294;p23"/>
          <p:cNvPicPr preferRelativeResize="0"/>
          <p:nvPr/>
        </p:nvPicPr>
        <p:blipFill rotWithShape="1">
          <a:blip r:embed="rId9">
            <a:alphaModFix/>
          </a:blip>
          <a:srcRect b="0" l="0" r="0" t="0"/>
          <a:stretch/>
        </p:blipFill>
        <p:spPr>
          <a:xfrm>
            <a:off x="6457950" y="3057525"/>
            <a:ext cx="104775" cy="142875"/>
          </a:xfrm>
          <a:prstGeom prst="rect">
            <a:avLst/>
          </a:prstGeom>
          <a:noFill/>
          <a:ln>
            <a:noFill/>
          </a:ln>
        </p:spPr>
      </p:pic>
      <p:pic>
        <p:nvPicPr>
          <p:cNvPr descr="image.png" id="295" name="Google Shape;295;p23"/>
          <p:cNvPicPr preferRelativeResize="0"/>
          <p:nvPr/>
        </p:nvPicPr>
        <p:blipFill rotWithShape="1">
          <a:blip r:embed="rId10">
            <a:alphaModFix/>
          </a:blip>
          <a:srcRect b="0" l="0" r="0" t="0"/>
          <a:stretch/>
        </p:blipFill>
        <p:spPr>
          <a:xfrm>
            <a:off x="6457950" y="3695700"/>
            <a:ext cx="114300" cy="142875"/>
          </a:xfrm>
          <a:prstGeom prst="rect">
            <a:avLst/>
          </a:prstGeom>
          <a:noFill/>
          <a:ln>
            <a:noFill/>
          </a:ln>
        </p:spPr>
      </p:pic>
      <p:pic>
        <p:nvPicPr>
          <p:cNvPr descr="image.png" id="296" name="Google Shape;296;p23"/>
          <p:cNvPicPr preferRelativeResize="0"/>
          <p:nvPr/>
        </p:nvPicPr>
        <p:blipFill rotWithShape="1">
          <a:blip r:embed="rId10">
            <a:alphaModFix/>
          </a:blip>
          <a:srcRect b="0" l="0" r="0" t="0"/>
          <a:stretch/>
        </p:blipFill>
        <p:spPr>
          <a:xfrm>
            <a:off x="785813" y="4169200"/>
            <a:ext cx="114300" cy="142875"/>
          </a:xfrm>
          <a:prstGeom prst="rect">
            <a:avLst/>
          </a:prstGeom>
          <a:noFill/>
          <a:ln>
            <a:noFill/>
          </a:ln>
        </p:spPr>
      </p:pic>
      <p:pic>
        <p:nvPicPr>
          <p:cNvPr descr="image.png" id="297" name="Google Shape;297;p23"/>
          <p:cNvPicPr preferRelativeResize="0"/>
          <p:nvPr/>
        </p:nvPicPr>
        <p:blipFill rotWithShape="1">
          <a:blip r:embed="rId10">
            <a:alphaModFix/>
          </a:blip>
          <a:srcRect b="0" l="0" r="0" t="0"/>
          <a:stretch/>
        </p:blipFill>
        <p:spPr>
          <a:xfrm>
            <a:off x="798749" y="4428383"/>
            <a:ext cx="114300" cy="142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pic>
        <p:nvPicPr>
          <p:cNvPr descr="image.png" id="302" name="Google Shape;302;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3" name="Google Shape;303;p24"/>
          <p:cNvPicPr preferRelativeResize="0"/>
          <p:nvPr/>
        </p:nvPicPr>
        <p:blipFill rotWithShape="1">
          <a:blip r:embed="rId4">
            <a:alphaModFix/>
          </a:blip>
          <a:srcRect b="0" l="0" r="0" t="0"/>
          <a:stretch/>
        </p:blipFill>
        <p:spPr>
          <a:xfrm>
            <a:off x="571500" y="1381125"/>
            <a:ext cx="5381625" cy="3625925"/>
          </a:xfrm>
          <a:prstGeom prst="rect">
            <a:avLst/>
          </a:prstGeom>
          <a:noFill/>
          <a:ln>
            <a:noFill/>
          </a:ln>
        </p:spPr>
      </p:pic>
      <p:pic>
        <p:nvPicPr>
          <p:cNvPr descr="image.png" id="304" name="Google Shape;304;p24"/>
          <p:cNvPicPr preferRelativeResize="0"/>
          <p:nvPr/>
        </p:nvPicPr>
        <p:blipFill rotWithShape="1">
          <a:blip r:embed="rId5">
            <a:alphaModFix/>
          </a:blip>
          <a:srcRect b="0" l="0" r="0" t="0"/>
          <a:stretch/>
        </p:blipFill>
        <p:spPr>
          <a:xfrm>
            <a:off x="6238875" y="1381125"/>
            <a:ext cx="5381625" cy="3625925"/>
          </a:xfrm>
          <a:prstGeom prst="rect">
            <a:avLst/>
          </a:prstGeom>
          <a:noFill/>
          <a:ln>
            <a:noFill/>
          </a:ln>
        </p:spPr>
      </p:pic>
      <p:sp>
        <p:nvSpPr>
          <p:cNvPr id="305" name="Google Shape;305;p24"/>
          <p:cNvSpPr txBox="1"/>
          <p:nvPr/>
        </p:nvSpPr>
        <p:spPr>
          <a:xfrm>
            <a:off x="571500" y="571500"/>
            <a:ext cx="79809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9477C"/>
                </a:solidFill>
                <a:latin typeface="Merriweather"/>
                <a:ea typeface="Merriweather"/>
                <a:cs typeface="Merriweather"/>
                <a:sym typeface="Merriweather"/>
              </a:rPr>
              <a:t>Architectural Evolution &amp; Limitations</a:t>
            </a:r>
            <a:endParaRPr/>
          </a:p>
        </p:txBody>
      </p:sp>
      <p:sp>
        <p:nvSpPr>
          <p:cNvPr id="306" name="Google Shape;306;p24"/>
          <p:cNvSpPr/>
          <p:nvPr/>
        </p:nvSpPr>
        <p:spPr>
          <a:xfrm>
            <a:off x="571500" y="1114425"/>
            <a:ext cx="7600950"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07" name="Google Shape;307;p24"/>
          <p:cNvPicPr preferRelativeResize="0"/>
          <p:nvPr/>
        </p:nvPicPr>
        <p:blipFill rotWithShape="1">
          <a:blip r:embed="rId6">
            <a:alphaModFix/>
          </a:blip>
          <a:srcRect b="0" l="0" r="0" t="0"/>
          <a:stretch/>
        </p:blipFill>
        <p:spPr>
          <a:xfrm>
            <a:off x="800100" y="5772150"/>
            <a:ext cx="228600" cy="228600"/>
          </a:xfrm>
          <a:prstGeom prst="rect">
            <a:avLst/>
          </a:prstGeom>
          <a:noFill/>
          <a:ln>
            <a:noFill/>
          </a:ln>
        </p:spPr>
      </p:pic>
      <p:sp>
        <p:nvSpPr>
          <p:cNvPr id="308" name="Google Shape;308;p24"/>
          <p:cNvSpPr txBox="1"/>
          <p:nvPr/>
        </p:nvSpPr>
        <p:spPr>
          <a:xfrm>
            <a:off x="1171575" y="5657850"/>
            <a:ext cx="102774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9477C"/>
                </a:solidFill>
                <a:latin typeface="DM Sans"/>
                <a:ea typeface="DM Sans"/>
                <a:cs typeface="DM Sans"/>
                <a:sym typeface="DM Sans"/>
              </a:rPr>
              <a:t>Future Direction:</a:t>
            </a:r>
            <a:r>
              <a:rPr b="0" i="0" lang="en-US" sz="1200" u="none" cap="none" strike="noStrike">
                <a:solidFill>
                  <a:srgbClr val="09477C"/>
                </a:solidFill>
                <a:latin typeface="DM Sans Medium"/>
                <a:ea typeface="DM Sans Medium"/>
                <a:cs typeface="DM Sans Medium"/>
                <a:sym typeface="DM Sans Medium"/>
              </a:rPr>
              <a:t> </a:t>
            </a:r>
            <a:r>
              <a:rPr lang="en-US" sz="1200">
                <a:solidFill>
                  <a:srgbClr val="09477C"/>
                </a:solidFill>
                <a:latin typeface="DM Sans Medium"/>
                <a:ea typeface="DM Sans Medium"/>
                <a:cs typeface="DM Sans Medium"/>
                <a:sym typeface="DM Sans Medium"/>
              </a:rPr>
              <a:t>Improve the 20-way 1-shot setting by running longer training, testing multiple random seeds, performing wider hyperparameter tuning, and extending evaluation to harder datasets such as Mini-ImageNet.</a:t>
            </a:r>
            <a:endParaRPr/>
          </a:p>
        </p:txBody>
      </p:sp>
      <p:sp>
        <p:nvSpPr>
          <p:cNvPr id="309" name="Google Shape;309;p24"/>
          <p:cNvSpPr txBox="1"/>
          <p:nvPr/>
        </p:nvSpPr>
        <p:spPr>
          <a:xfrm>
            <a:off x="1104900" y="1600200"/>
            <a:ext cx="4860607" cy="247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477C"/>
                </a:solidFill>
                <a:latin typeface="DM Sans"/>
                <a:ea typeface="DM Sans"/>
                <a:cs typeface="DM Sans"/>
                <a:sym typeface="DM Sans"/>
              </a:rPr>
              <a:t>Architectural Refinements</a:t>
            </a:r>
            <a:endParaRPr/>
          </a:p>
        </p:txBody>
      </p:sp>
      <p:sp>
        <p:nvSpPr>
          <p:cNvPr id="310" name="Google Shape;310;p24"/>
          <p:cNvSpPr txBox="1"/>
          <p:nvPr/>
        </p:nvSpPr>
        <p:spPr>
          <a:xfrm>
            <a:off x="6743700" y="1600200"/>
            <a:ext cx="4890611" cy="247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477C"/>
                </a:solidFill>
                <a:latin typeface="DM Sans"/>
                <a:ea typeface="DM Sans"/>
                <a:cs typeface="DM Sans"/>
                <a:sym typeface="DM Sans"/>
              </a:rPr>
              <a:t>Remaining Challenges &amp; Limitations</a:t>
            </a:r>
            <a:endParaRPr/>
          </a:p>
        </p:txBody>
      </p:sp>
      <p:pic>
        <p:nvPicPr>
          <p:cNvPr descr="image.png" id="311" name="Google Shape;311;p24"/>
          <p:cNvPicPr preferRelativeResize="0"/>
          <p:nvPr/>
        </p:nvPicPr>
        <p:blipFill rotWithShape="1">
          <a:blip r:embed="rId7">
            <a:alphaModFix/>
          </a:blip>
          <a:srcRect b="0" l="0" r="0" t="0"/>
          <a:stretch/>
        </p:blipFill>
        <p:spPr>
          <a:xfrm>
            <a:off x="790575" y="1628775"/>
            <a:ext cx="219075" cy="190500"/>
          </a:xfrm>
          <a:prstGeom prst="rect">
            <a:avLst/>
          </a:prstGeom>
          <a:noFill/>
          <a:ln>
            <a:noFill/>
          </a:ln>
        </p:spPr>
      </p:pic>
      <p:pic>
        <p:nvPicPr>
          <p:cNvPr descr="image.png" id="312" name="Google Shape;312;p24"/>
          <p:cNvPicPr preferRelativeResize="0"/>
          <p:nvPr/>
        </p:nvPicPr>
        <p:blipFill rotWithShape="1">
          <a:blip r:embed="rId8">
            <a:alphaModFix/>
          </a:blip>
          <a:srcRect b="0" l="0" r="0" t="0"/>
          <a:stretch/>
        </p:blipFill>
        <p:spPr>
          <a:xfrm>
            <a:off x="6457950" y="1628775"/>
            <a:ext cx="190500" cy="190500"/>
          </a:xfrm>
          <a:prstGeom prst="rect">
            <a:avLst/>
          </a:prstGeom>
          <a:noFill/>
          <a:ln>
            <a:noFill/>
          </a:ln>
        </p:spPr>
      </p:pic>
      <p:sp>
        <p:nvSpPr>
          <p:cNvPr id="313" name="Google Shape;313;p24"/>
          <p:cNvSpPr txBox="1"/>
          <p:nvPr/>
        </p:nvSpPr>
        <p:spPr>
          <a:xfrm>
            <a:off x="618975" y="1907325"/>
            <a:ext cx="5035200" cy="29862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Char char="❖"/>
            </a:pPr>
            <a:r>
              <a:rPr lang="en-US" sz="1300">
                <a:solidFill>
                  <a:schemeClr val="dk1"/>
                </a:solidFill>
              </a:rPr>
              <a:t>Replaced max pooling with stride-2 convolutions.</a:t>
            </a:r>
            <a:endParaRPr sz="1300">
              <a:solidFill>
                <a:schemeClr val="dk1"/>
              </a:solidFill>
            </a:endParaRPr>
          </a:p>
          <a:p>
            <a:pPr indent="0" lvl="0" marL="457200" rtl="0" algn="just">
              <a:spcBef>
                <a:spcPts val="0"/>
              </a:spcBef>
              <a:spcAft>
                <a:spcPts val="0"/>
              </a:spcAft>
              <a:buNone/>
            </a:pPr>
            <a:r>
              <a:t/>
            </a:r>
            <a:endParaRPr sz="1300">
              <a:solidFill>
                <a:schemeClr val="dk1"/>
              </a:solidFill>
            </a:endParaRPr>
          </a:p>
          <a:p>
            <a:pPr indent="-311150" lvl="0" marL="457200" rtl="0" algn="just">
              <a:spcBef>
                <a:spcPts val="0"/>
              </a:spcBef>
              <a:spcAft>
                <a:spcPts val="0"/>
              </a:spcAft>
              <a:buClr>
                <a:schemeClr val="dk1"/>
              </a:buClr>
              <a:buSzPts val="1300"/>
              <a:buChar char="❖"/>
            </a:pPr>
            <a:r>
              <a:rPr lang="en-US" sz="1300">
                <a:solidFill>
                  <a:schemeClr val="dk1"/>
                </a:solidFill>
              </a:rPr>
              <a:t>This allowed the CNN to learn downsampling directly from the data.</a:t>
            </a:r>
            <a:endParaRPr sz="1300">
              <a:solidFill>
                <a:schemeClr val="dk1"/>
              </a:solidFill>
            </a:endParaRPr>
          </a:p>
          <a:p>
            <a:pPr indent="0" lvl="0" marL="457200" rtl="0" algn="just">
              <a:spcBef>
                <a:spcPts val="0"/>
              </a:spcBef>
              <a:spcAft>
                <a:spcPts val="0"/>
              </a:spcAft>
              <a:buNone/>
            </a:pPr>
            <a:r>
              <a:t/>
            </a:r>
            <a:endParaRPr sz="1300">
              <a:solidFill>
                <a:schemeClr val="dk1"/>
              </a:solidFill>
            </a:endParaRPr>
          </a:p>
          <a:p>
            <a:pPr indent="-311150" lvl="0" marL="457200" rtl="0" algn="just">
              <a:spcBef>
                <a:spcPts val="0"/>
              </a:spcBef>
              <a:spcAft>
                <a:spcPts val="0"/>
              </a:spcAft>
              <a:buSzPts val="1300"/>
              <a:buChar char="❖"/>
            </a:pPr>
            <a:r>
              <a:rPr lang="en-US" sz="1300">
                <a:solidFill>
                  <a:schemeClr val="dk1"/>
                </a:solidFill>
              </a:rPr>
              <a:t>The 28×28 input was compressed into a compact </a:t>
            </a:r>
            <a:r>
              <a:rPr lang="en-US" sz="1300">
                <a:solidFill>
                  <a:srgbClr val="188038"/>
                </a:solidFill>
                <a:latin typeface="Roboto Mono"/>
                <a:ea typeface="Roboto Mono"/>
                <a:cs typeface="Roboto Mono"/>
                <a:sym typeface="Roboto Mono"/>
              </a:rPr>
              <a:t>64 × 2 × 2</a:t>
            </a:r>
            <a:r>
              <a:rPr lang="en-US" sz="1300">
                <a:solidFill>
                  <a:schemeClr val="dk1"/>
                </a:solidFill>
              </a:rPr>
              <a:t> feature map.</a:t>
            </a:r>
            <a:endParaRPr sz="1300">
              <a:solidFill>
                <a:schemeClr val="dk1"/>
              </a:solidFill>
            </a:endParaRPr>
          </a:p>
          <a:p>
            <a:pPr indent="0" lvl="0" marL="457200" rtl="0" algn="just">
              <a:spcBef>
                <a:spcPts val="0"/>
              </a:spcBef>
              <a:spcAft>
                <a:spcPts val="0"/>
              </a:spcAft>
              <a:buNone/>
            </a:pPr>
            <a:r>
              <a:t/>
            </a:r>
            <a:endParaRPr sz="1300">
              <a:solidFill>
                <a:schemeClr val="dk1"/>
              </a:solidFill>
            </a:endParaRPr>
          </a:p>
          <a:p>
            <a:pPr indent="-311150" lvl="0" marL="457200" rtl="0" algn="just">
              <a:spcBef>
                <a:spcPts val="0"/>
              </a:spcBef>
              <a:spcAft>
                <a:spcPts val="0"/>
              </a:spcAft>
              <a:buClr>
                <a:schemeClr val="dk1"/>
              </a:buClr>
              <a:buSzPts val="1300"/>
              <a:buChar char="❖"/>
            </a:pPr>
            <a:r>
              <a:rPr lang="en-US" sz="1300">
                <a:solidFill>
                  <a:schemeClr val="dk1"/>
                </a:solidFill>
              </a:rPr>
              <a:t>BatchNorm2d was used after convolution layers to stabilize rapid task-specific adaptation.</a:t>
            </a:r>
            <a:endParaRPr sz="1300">
              <a:solidFill>
                <a:schemeClr val="dk1"/>
              </a:solidFill>
            </a:endParaRPr>
          </a:p>
          <a:p>
            <a:pPr indent="0" lvl="0" marL="457200" rtl="0" algn="just">
              <a:spcBef>
                <a:spcPts val="0"/>
              </a:spcBef>
              <a:spcAft>
                <a:spcPts val="0"/>
              </a:spcAft>
              <a:buNone/>
            </a:pPr>
            <a:r>
              <a:t/>
            </a:r>
            <a:endParaRPr sz="1300">
              <a:solidFill>
                <a:schemeClr val="dk1"/>
              </a:solidFill>
            </a:endParaRPr>
          </a:p>
          <a:p>
            <a:pPr indent="-311150" lvl="0" marL="457200" rtl="0" algn="just">
              <a:spcBef>
                <a:spcPts val="0"/>
              </a:spcBef>
              <a:spcAft>
                <a:spcPts val="0"/>
              </a:spcAft>
              <a:buClr>
                <a:schemeClr val="dk1"/>
              </a:buClr>
              <a:buSzPts val="1300"/>
              <a:buChar char="❖"/>
            </a:pPr>
            <a:r>
              <a:rPr lang="en-US" sz="1300">
                <a:solidFill>
                  <a:schemeClr val="dk1"/>
                </a:solidFill>
              </a:rPr>
              <a:t>Reptile meta-updates were applied only to learnable parameters, avoiding corruption of BatchNorm running statistics.</a:t>
            </a:r>
            <a:endParaRPr sz="1300">
              <a:solidFill>
                <a:schemeClr val="dk1"/>
              </a:solidFill>
            </a:endParaRPr>
          </a:p>
        </p:txBody>
      </p:sp>
      <p:sp>
        <p:nvSpPr>
          <p:cNvPr id="314" name="Google Shape;314;p24"/>
          <p:cNvSpPr txBox="1"/>
          <p:nvPr/>
        </p:nvSpPr>
        <p:spPr>
          <a:xfrm>
            <a:off x="6303725" y="1907313"/>
            <a:ext cx="4991100" cy="29862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Char char="❖"/>
            </a:pPr>
            <a:r>
              <a:rPr b="1" lang="en-US" sz="1300">
                <a:solidFill>
                  <a:schemeClr val="dk1"/>
                </a:solidFill>
              </a:rPr>
              <a:t>Hardest Omniglot setting:</a:t>
            </a:r>
            <a:r>
              <a:rPr lang="en-US" sz="1300">
                <a:solidFill>
                  <a:schemeClr val="dk1"/>
                </a:solidFill>
              </a:rPr>
              <a:t> The model must classify between 20 classes using only 1 support image per class, so the task has very limited adaptation information.</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Performance gap remains:</a:t>
            </a:r>
            <a:r>
              <a:rPr lang="en-US" sz="1300">
                <a:solidFill>
                  <a:schemeClr val="dk1"/>
                </a:solidFill>
              </a:rPr>
              <a:t> The final test accuracy reached </a:t>
            </a:r>
            <a:r>
              <a:rPr b="1" lang="en-US" sz="1300">
                <a:solidFill>
                  <a:schemeClr val="dk1"/>
                </a:solidFill>
              </a:rPr>
              <a:t>85.27%</a:t>
            </a:r>
            <a:r>
              <a:rPr lang="en-US" sz="1300">
                <a:solidFill>
                  <a:schemeClr val="dk1"/>
                </a:solidFill>
              </a:rPr>
              <a:t>, which is far above the 5% random baseline, but still lower than the original Reptile paper’s 20-way 1-shot result.</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High computational cost:</a:t>
            </a:r>
            <a:r>
              <a:rPr lang="en-US" sz="1300">
                <a:solidFill>
                  <a:schemeClr val="dk1"/>
                </a:solidFill>
              </a:rPr>
              <a:t> Each 20-way task contains more classes and larger query evaluation, so validation/testing is much slower than the 5-way experiments.</a:t>
            </a:r>
            <a:endParaRPr sz="1300">
              <a:solidFill>
                <a:schemeClr val="dk1"/>
              </a:solidFill>
            </a:endParaRPr>
          </a:p>
          <a:p>
            <a:pPr indent="-311150" lvl="0" marL="457200" rtl="0" algn="l">
              <a:spcBef>
                <a:spcPts val="0"/>
              </a:spcBef>
              <a:spcAft>
                <a:spcPts val="0"/>
              </a:spcAft>
              <a:buClr>
                <a:schemeClr val="dk1"/>
              </a:buClr>
              <a:buSzPts val="1300"/>
              <a:buChar char="❖"/>
            </a:pPr>
            <a:r>
              <a:rPr b="1" lang="en-US" sz="1300">
                <a:solidFill>
                  <a:schemeClr val="dk1"/>
                </a:solidFill>
              </a:rPr>
              <a:t>Single-run evaluation:</a:t>
            </a:r>
            <a:r>
              <a:rPr lang="en-US" sz="1300">
                <a:solidFill>
                  <a:schemeClr val="dk1"/>
                </a:solidFill>
              </a:rPr>
              <a:t> The result was reported from one main run without multiple random seeds, so confidence intervals or statistical stability were not measured.</a:t>
            </a:r>
            <a:endParaRPr sz="13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pic>
        <p:nvPicPr>
          <p:cNvPr descr="image.png" id="319" name="Google Shape;319;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0" name="Google Shape;320;p25"/>
          <p:cNvPicPr preferRelativeResize="0"/>
          <p:nvPr/>
        </p:nvPicPr>
        <p:blipFill rotWithShape="1">
          <a:blip r:embed="rId4">
            <a:alphaModFix/>
          </a:blip>
          <a:srcRect b="0" l="0" r="0" t="0"/>
          <a:stretch/>
        </p:blipFill>
        <p:spPr>
          <a:xfrm>
            <a:off x="571500" y="1381125"/>
            <a:ext cx="5893593" cy="3652837"/>
          </a:xfrm>
          <a:prstGeom prst="rect">
            <a:avLst/>
          </a:prstGeom>
          <a:noFill/>
          <a:ln>
            <a:noFill/>
          </a:ln>
        </p:spPr>
      </p:pic>
      <p:pic>
        <p:nvPicPr>
          <p:cNvPr descr="image.png" id="321" name="Google Shape;321;p25"/>
          <p:cNvPicPr preferRelativeResize="0"/>
          <p:nvPr/>
        </p:nvPicPr>
        <p:blipFill rotWithShape="1">
          <a:blip r:embed="rId5">
            <a:alphaModFix/>
          </a:blip>
          <a:srcRect b="0" l="0" r="0" t="0"/>
          <a:stretch/>
        </p:blipFill>
        <p:spPr>
          <a:xfrm>
            <a:off x="6798468" y="1381125"/>
            <a:ext cx="4822031" cy="3652837"/>
          </a:xfrm>
          <a:prstGeom prst="rect">
            <a:avLst/>
          </a:prstGeom>
          <a:noFill/>
          <a:ln>
            <a:noFill/>
          </a:ln>
        </p:spPr>
      </p:pic>
      <p:sp>
        <p:nvSpPr>
          <p:cNvPr id="322" name="Google Shape;322;p25"/>
          <p:cNvSpPr txBox="1"/>
          <p:nvPr/>
        </p:nvSpPr>
        <p:spPr>
          <a:xfrm>
            <a:off x="571500" y="571500"/>
            <a:ext cx="6390798"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9477C"/>
                </a:solidFill>
                <a:latin typeface="Merriweather"/>
                <a:ea typeface="Merriweather"/>
                <a:cs typeface="Merriweather"/>
                <a:sym typeface="Merriweather"/>
              </a:rPr>
              <a:t>Conclusion &amp; Empirical Validation</a:t>
            </a:r>
            <a:endParaRPr/>
          </a:p>
        </p:txBody>
      </p:sp>
      <p:sp>
        <p:nvSpPr>
          <p:cNvPr id="323" name="Google Shape;323;p25"/>
          <p:cNvSpPr/>
          <p:nvPr/>
        </p:nvSpPr>
        <p:spPr>
          <a:xfrm>
            <a:off x="571500" y="1114425"/>
            <a:ext cx="6086475"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24" name="Google Shape;324;p25"/>
          <p:cNvPicPr preferRelativeResize="0"/>
          <p:nvPr/>
        </p:nvPicPr>
        <p:blipFill rotWithShape="1">
          <a:blip r:embed="rId6">
            <a:alphaModFix/>
          </a:blip>
          <a:srcRect b="0" l="0" r="0" t="0"/>
          <a:stretch/>
        </p:blipFill>
        <p:spPr>
          <a:xfrm>
            <a:off x="800100" y="5657850"/>
            <a:ext cx="285750" cy="228600"/>
          </a:xfrm>
          <a:prstGeom prst="rect">
            <a:avLst/>
          </a:prstGeom>
          <a:noFill/>
          <a:ln>
            <a:noFill/>
          </a:ln>
        </p:spPr>
      </p:pic>
      <p:sp>
        <p:nvSpPr>
          <p:cNvPr id="325" name="Google Shape;325;p25"/>
          <p:cNvSpPr txBox="1"/>
          <p:nvPr/>
        </p:nvSpPr>
        <p:spPr>
          <a:xfrm>
            <a:off x="1228725" y="5536035"/>
            <a:ext cx="10220400" cy="738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9477C"/>
                </a:solidFill>
                <a:latin typeface="DM Sans"/>
                <a:ea typeface="DM Sans"/>
                <a:cs typeface="DM Sans"/>
                <a:sym typeface="DM Sans"/>
              </a:rPr>
              <a:t>Final Verdict:</a:t>
            </a:r>
            <a:r>
              <a:rPr b="0" i="0" lang="en-US" sz="1200" u="none" cap="none" strike="noStrike">
                <a:solidFill>
                  <a:srgbClr val="09477C"/>
                </a:solidFill>
                <a:latin typeface="DM Sans Medium"/>
                <a:ea typeface="DM Sans Medium"/>
                <a:cs typeface="DM Sans Medium"/>
                <a:sym typeface="DM Sans Medium"/>
              </a:rPr>
              <a:t> The project confirms that while Reptile is mathematically simple to write, its empirical validation is highly sensitive to implementation details. Tuning the relationship between inner loops and outer loops is what turns moderate configurations into highly adaptable models.</a:t>
            </a:r>
            <a:endParaRPr/>
          </a:p>
        </p:txBody>
      </p:sp>
      <p:sp>
        <p:nvSpPr>
          <p:cNvPr id="326" name="Google Shape;326;p25"/>
          <p:cNvSpPr txBox="1"/>
          <p:nvPr/>
        </p:nvSpPr>
        <p:spPr>
          <a:xfrm>
            <a:off x="1076325" y="1619250"/>
            <a:ext cx="5408175" cy="247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477C"/>
                </a:solidFill>
                <a:latin typeface="DM Sans"/>
                <a:ea typeface="DM Sans"/>
                <a:cs typeface="DM Sans"/>
                <a:sym typeface="DM Sans"/>
              </a:rPr>
              <a:t>Did We Expect These Results?</a:t>
            </a:r>
            <a:endParaRPr/>
          </a:p>
        </p:txBody>
      </p:sp>
      <p:sp>
        <p:nvSpPr>
          <p:cNvPr id="327" name="Google Shape;327;p25"/>
          <p:cNvSpPr txBox="1"/>
          <p:nvPr/>
        </p:nvSpPr>
        <p:spPr>
          <a:xfrm>
            <a:off x="809625" y="1981200"/>
            <a:ext cx="5417343"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Yes and No:</a:t>
            </a:r>
            <a:r>
              <a:rPr b="0" i="0" lang="en-US" sz="1125" u="none" cap="none" strike="noStrike">
                <a:solidFill>
                  <a:srgbClr val="1E293B"/>
                </a:solidFill>
                <a:latin typeface="DM Sans"/>
                <a:ea typeface="DM Sans"/>
                <a:cs typeface="DM Sans"/>
                <a:sym typeface="DM Sans"/>
              </a:rPr>
              <a:t> While theory guarantees that first-order meta-gradients work, the actual performance gaps across setups highlight interesting optimization dynamics:</a:t>
            </a:r>
            <a:endParaRPr/>
          </a:p>
        </p:txBody>
      </p:sp>
      <p:sp>
        <p:nvSpPr>
          <p:cNvPr id="328" name="Google Shape;328;p25"/>
          <p:cNvSpPr txBox="1"/>
          <p:nvPr/>
        </p:nvSpPr>
        <p:spPr>
          <a:xfrm>
            <a:off x="7350918" y="1619250"/>
            <a:ext cx="4233029" cy="247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477C"/>
                </a:solidFill>
                <a:latin typeface="DM Sans"/>
                <a:ea typeface="DM Sans"/>
                <a:cs typeface="DM Sans"/>
                <a:sym typeface="DM Sans"/>
              </a:rPr>
              <a:t>Empirical Validation Challenges</a:t>
            </a:r>
            <a:endParaRPr/>
          </a:p>
        </p:txBody>
      </p:sp>
      <p:sp>
        <p:nvSpPr>
          <p:cNvPr id="329" name="Google Shape;329;p25"/>
          <p:cNvSpPr txBox="1"/>
          <p:nvPr/>
        </p:nvSpPr>
        <p:spPr>
          <a:xfrm>
            <a:off x="7065168" y="1981200"/>
            <a:ext cx="4317206"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64748B"/>
                </a:solidFill>
                <a:latin typeface="DM Sans"/>
                <a:ea typeface="DM Sans"/>
                <a:cs typeface="DM Sans"/>
                <a:sym typeface="DM Sans"/>
              </a:rPr>
              <a:t>Achieving high final accuracy required identifying and fixing several core implementation hurdles:</a:t>
            </a:r>
            <a:endParaRPr/>
          </a:p>
        </p:txBody>
      </p:sp>
      <p:pic>
        <p:nvPicPr>
          <p:cNvPr descr="image.png" id="330" name="Google Shape;330;p25"/>
          <p:cNvPicPr preferRelativeResize="0"/>
          <p:nvPr/>
        </p:nvPicPr>
        <p:blipFill rotWithShape="1">
          <a:blip r:embed="rId7">
            <a:alphaModFix/>
          </a:blip>
          <a:srcRect b="0" l="0" r="0" t="0"/>
          <a:stretch/>
        </p:blipFill>
        <p:spPr>
          <a:xfrm>
            <a:off x="809625" y="1647825"/>
            <a:ext cx="171450" cy="190500"/>
          </a:xfrm>
          <a:prstGeom prst="rect">
            <a:avLst/>
          </a:prstGeom>
          <a:noFill/>
          <a:ln>
            <a:noFill/>
          </a:ln>
        </p:spPr>
      </p:pic>
      <p:sp>
        <p:nvSpPr>
          <p:cNvPr id="331" name="Google Shape;331;p25"/>
          <p:cNvSpPr txBox="1"/>
          <p:nvPr/>
        </p:nvSpPr>
        <p:spPr>
          <a:xfrm>
            <a:off x="1038225" y="2738437"/>
            <a:ext cx="5188743" cy="89535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Expected Success:</a:t>
            </a:r>
            <a:r>
              <a:rPr b="0" i="0" lang="en-US" sz="1125" u="none" cap="none" strike="noStrike">
                <a:solidFill>
                  <a:srgbClr val="1E293B"/>
                </a:solidFill>
                <a:latin typeface="DM Sans"/>
                <a:ea typeface="DM Sans"/>
                <a:cs typeface="DM Sans"/>
                <a:sym typeface="DM Sans"/>
              </a:rPr>
              <a:t> The sine wave setup smoothly developed an initialization optimized for quick adaptation. Similarly, the 5-Way classification boundaries produced strong, predictable trends, peaking at a remarkable test accuracy.</a:t>
            </a:r>
            <a:endParaRPr/>
          </a:p>
        </p:txBody>
      </p:sp>
      <p:sp>
        <p:nvSpPr>
          <p:cNvPr id="332" name="Google Shape;332;p25"/>
          <p:cNvSpPr txBox="1"/>
          <p:nvPr/>
        </p:nvSpPr>
        <p:spPr>
          <a:xfrm>
            <a:off x="1038225" y="3748087"/>
            <a:ext cx="5188800" cy="9522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The Complexity Wall:</a:t>
            </a:r>
            <a:r>
              <a:rPr b="0" i="0" lang="en-US" sz="1125" u="none" cap="none" strike="noStrike">
                <a:solidFill>
                  <a:srgbClr val="1E293B"/>
                </a:solidFill>
                <a:latin typeface="DM Sans"/>
                <a:ea typeface="DM Sans"/>
                <a:cs typeface="DM Sans"/>
                <a:sym typeface="DM Sans"/>
              </a:rPr>
              <a:t> Scaling up to the 20-Way 5-Shot benchmark proved much harder. Reaching 88.39% clearly cleared the 5% random baseline, but left a notable performance gap compared to the paper, highlighting how sensitive meta-initialization space is to task density.</a:t>
            </a:r>
            <a:endParaRPr/>
          </a:p>
        </p:txBody>
      </p:sp>
      <p:pic>
        <p:nvPicPr>
          <p:cNvPr descr="image.png" id="333" name="Google Shape;333;p25"/>
          <p:cNvPicPr preferRelativeResize="0"/>
          <p:nvPr/>
        </p:nvPicPr>
        <p:blipFill rotWithShape="1">
          <a:blip r:embed="rId8">
            <a:alphaModFix/>
          </a:blip>
          <a:srcRect b="0" l="0" r="0" t="0"/>
          <a:stretch/>
        </p:blipFill>
        <p:spPr>
          <a:xfrm>
            <a:off x="7065168" y="1647825"/>
            <a:ext cx="190500" cy="190500"/>
          </a:xfrm>
          <a:prstGeom prst="rect">
            <a:avLst/>
          </a:prstGeom>
          <a:noFill/>
          <a:ln>
            <a:noFill/>
          </a:ln>
        </p:spPr>
      </p:pic>
      <p:sp>
        <p:nvSpPr>
          <p:cNvPr id="334" name="Google Shape;334;p25"/>
          <p:cNvSpPr txBox="1"/>
          <p:nvPr/>
        </p:nvSpPr>
        <p:spPr>
          <a:xfrm>
            <a:off x="7293718" y="3280545"/>
            <a:ext cx="4088700" cy="6924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Inner-Loop Steps:</a:t>
            </a:r>
            <a:r>
              <a:rPr b="0" i="0" lang="en-US" sz="1125" u="none" cap="none" strike="noStrike">
                <a:solidFill>
                  <a:srgbClr val="1E293B"/>
                </a:solidFill>
                <a:latin typeface="DM Sans"/>
                <a:ea typeface="DM Sans"/>
                <a:cs typeface="DM Sans"/>
                <a:sym typeface="DM Sans"/>
              </a:rPr>
              <a:t> Ensuring exactly one step meant one mini-batch update, rather than a full pass over the support set, was essential to stop the model from overfitting.</a:t>
            </a:r>
            <a:endParaRPr/>
          </a:p>
        </p:txBody>
      </p:sp>
      <p:sp>
        <p:nvSpPr>
          <p:cNvPr id="335" name="Google Shape;335;p25"/>
          <p:cNvSpPr txBox="1"/>
          <p:nvPr/>
        </p:nvSpPr>
        <p:spPr>
          <a:xfrm>
            <a:off x="7255684" y="2519998"/>
            <a:ext cx="4088700" cy="6924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Architectural Adjustments:</a:t>
            </a:r>
            <a:r>
              <a:rPr b="0" i="0" lang="en-US" sz="1125" u="none" cap="none" strike="noStrike">
                <a:solidFill>
                  <a:srgbClr val="1E293B"/>
                </a:solidFill>
                <a:latin typeface="DM Sans"/>
                <a:ea typeface="DM Sans"/>
                <a:cs typeface="DM Sans"/>
                <a:sym typeface="DM Sans"/>
              </a:rPr>
              <a:t> Replacing Max Pooling with stride-2 learned downsampling while treating BatchNorm buffers carefully was critical for stability.</a:t>
            </a:r>
            <a:endParaRPr/>
          </a:p>
        </p:txBody>
      </p:sp>
      <p:sp>
        <p:nvSpPr>
          <p:cNvPr id="336" name="Google Shape;336;p25"/>
          <p:cNvSpPr txBox="1"/>
          <p:nvPr/>
        </p:nvSpPr>
        <p:spPr>
          <a:xfrm>
            <a:off x="7293768" y="4038600"/>
            <a:ext cx="4088606"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1E293B"/>
                </a:solidFill>
                <a:latin typeface="DM Sans"/>
                <a:ea typeface="DM Sans"/>
                <a:cs typeface="DM Sans"/>
                <a:sym typeface="DM Sans"/>
              </a:rPr>
              <a:t>Long-Horizon Training:</a:t>
            </a:r>
            <a:r>
              <a:rPr b="0" i="0" lang="en-US" sz="1125" u="none" cap="none" strike="noStrike">
                <a:solidFill>
                  <a:srgbClr val="1E293B"/>
                </a:solidFill>
                <a:latin typeface="DM Sans"/>
                <a:ea typeface="DM Sans"/>
                <a:cs typeface="DM Sans"/>
                <a:sym typeface="DM Sans"/>
              </a:rPr>
              <a:t> Extending the meta-training cycle well beyond initial attempts alongside meta-LR annealing (0.2/1.0 → 0.0) unlocked successful convergence.</a:t>
            </a:r>
            <a:endParaRPr/>
          </a:p>
        </p:txBody>
      </p:sp>
      <p:pic>
        <p:nvPicPr>
          <p:cNvPr descr="image.png" id="337" name="Google Shape;337;p25"/>
          <p:cNvPicPr preferRelativeResize="0"/>
          <p:nvPr/>
        </p:nvPicPr>
        <p:blipFill rotWithShape="1">
          <a:blip r:embed="rId9">
            <a:alphaModFix/>
          </a:blip>
          <a:srcRect b="0" l="0" r="0" t="0"/>
          <a:stretch/>
        </p:blipFill>
        <p:spPr>
          <a:xfrm>
            <a:off x="809625" y="2747962"/>
            <a:ext cx="95250" cy="152400"/>
          </a:xfrm>
          <a:prstGeom prst="rect">
            <a:avLst/>
          </a:prstGeom>
          <a:noFill/>
          <a:ln>
            <a:noFill/>
          </a:ln>
        </p:spPr>
      </p:pic>
      <p:pic>
        <p:nvPicPr>
          <p:cNvPr descr="image.png" id="338" name="Google Shape;338;p25"/>
          <p:cNvPicPr preferRelativeResize="0"/>
          <p:nvPr/>
        </p:nvPicPr>
        <p:blipFill rotWithShape="1">
          <a:blip r:embed="rId9">
            <a:alphaModFix/>
          </a:blip>
          <a:srcRect b="0" l="0" r="0" t="0"/>
          <a:stretch/>
        </p:blipFill>
        <p:spPr>
          <a:xfrm>
            <a:off x="809625" y="3757612"/>
            <a:ext cx="95250" cy="152400"/>
          </a:xfrm>
          <a:prstGeom prst="rect">
            <a:avLst/>
          </a:prstGeom>
          <a:noFill/>
          <a:ln>
            <a:noFill/>
          </a:ln>
        </p:spPr>
      </p:pic>
      <p:pic>
        <p:nvPicPr>
          <p:cNvPr descr="image.png" id="339" name="Google Shape;339;p25"/>
          <p:cNvPicPr preferRelativeResize="0"/>
          <p:nvPr/>
        </p:nvPicPr>
        <p:blipFill rotWithShape="1">
          <a:blip r:embed="rId9">
            <a:alphaModFix/>
          </a:blip>
          <a:srcRect b="0" l="0" r="0" t="0"/>
          <a:stretch/>
        </p:blipFill>
        <p:spPr>
          <a:xfrm>
            <a:off x="7065168" y="2533650"/>
            <a:ext cx="95250" cy="152400"/>
          </a:xfrm>
          <a:prstGeom prst="rect">
            <a:avLst/>
          </a:prstGeom>
          <a:noFill/>
          <a:ln>
            <a:noFill/>
          </a:ln>
        </p:spPr>
      </p:pic>
      <p:pic>
        <p:nvPicPr>
          <p:cNvPr descr="image.png" id="340" name="Google Shape;340;p25"/>
          <p:cNvPicPr preferRelativeResize="0"/>
          <p:nvPr/>
        </p:nvPicPr>
        <p:blipFill rotWithShape="1">
          <a:blip r:embed="rId9">
            <a:alphaModFix/>
          </a:blip>
          <a:srcRect b="0" l="0" r="0" t="0"/>
          <a:stretch/>
        </p:blipFill>
        <p:spPr>
          <a:xfrm>
            <a:off x="7065168" y="3290887"/>
            <a:ext cx="95250" cy="152400"/>
          </a:xfrm>
          <a:prstGeom prst="rect">
            <a:avLst/>
          </a:prstGeom>
          <a:noFill/>
          <a:ln>
            <a:noFill/>
          </a:ln>
        </p:spPr>
      </p:pic>
      <p:pic>
        <p:nvPicPr>
          <p:cNvPr descr="image.png" id="341" name="Google Shape;341;p25"/>
          <p:cNvPicPr preferRelativeResize="0"/>
          <p:nvPr/>
        </p:nvPicPr>
        <p:blipFill rotWithShape="1">
          <a:blip r:embed="rId9">
            <a:alphaModFix/>
          </a:blip>
          <a:srcRect b="0" l="0" r="0" t="0"/>
          <a:stretch/>
        </p:blipFill>
        <p:spPr>
          <a:xfrm>
            <a:off x="7065168" y="4048125"/>
            <a:ext cx="95250" cy="152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pic>
        <p:nvPicPr>
          <p:cNvPr descr="image.png" id="346" name="Google Shape;346;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7" name="Google Shape;347;p26"/>
          <p:cNvPicPr preferRelativeResize="0"/>
          <p:nvPr/>
        </p:nvPicPr>
        <p:blipFill rotWithShape="1">
          <a:blip r:embed="rId4">
            <a:alphaModFix/>
          </a:blip>
          <a:srcRect b="0" l="0" r="0" t="0"/>
          <a:stretch/>
        </p:blipFill>
        <p:spPr>
          <a:xfrm>
            <a:off x="571500" y="1314450"/>
            <a:ext cx="11620500" cy="571500"/>
          </a:xfrm>
          <a:prstGeom prst="rect">
            <a:avLst/>
          </a:prstGeom>
          <a:noFill/>
          <a:ln>
            <a:noFill/>
          </a:ln>
        </p:spPr>
      </p:pic>
      <p:pic>
        <p:nvPicPr>
          <p:cNvPr descr="image.png" id="348" name="Google Shape;348;p26"/>
          <p:cNvPicPr preferRelativeResize="0"/>
          <p:nvPr/>
        </p:nvPicPr>
        <p:blipFill rotWithShape="1">
          <a:blip r:embed="rId5">
            <a:alphaModFix/>
          </a:blip>
          <a:srcRect b="0" l="0" r="0" t="0"/>
          <a:stretch/>
        </p:blipFill>
        <p:spPr>
          <a:xfrm>
            <a:off x="571500" y="2038350"/>
            <a:ext cx="11495325" cy="714375"/>
          </a:xfrm>
          <a:prstGeom prst="rect">
            <a:avLst/>
          </a:prstGeom>
          <a:noFill/>
          <a:ln>
            <a:noFill/>
          </a:ln>
        </p:spPr>
      </p:pic>
      <p:pic>
        <p:nvPicPr>
          <p:cNvPr descr="image.png" id="349" name="Google Shape;349;p26"/>
          <p:cNvPicPr preferRelativeResize="0"/>
          <p:nvPr/>
        </p:nvPicPr>
        <p:blipFill rotWithShape="1">
          <a:blip r:embed="rId5">
            <a:alphaModFix/>
          </a:blip>
          <a:srcRect b="0" l="0" r="0" t="0"/>
          <a:stretch/>
        </p:blipFill>
        <p:spPr>
          <a:xfrm>
            <a:off x="571500" y="2905125"/>
            <a:ext cx="11049000" cy="714375"/>
          </a:xfrm>
          <a:prstGeom prst="rect">
            <a:avLst/>
          </a:prstGeom>
          <a:noFill/>
          <a:ln>
            <a:noFill/>
          </a:ln>
        </p:spPr>
      </p:pic>
      <p:pic>
        <p:nvPicPr>
          <p:cNvPr descr="image.png" id="350" name="Google Shape;350;p26"/>
          <p:cNvPicPr preferRelativeResize="0"/>
          <p:nvPr/>
        </p:nvPicPr>
        <p:blipFill rotWithShape="1">
          <a:blip r:embed="rId4">
            <a:alphaModFix/>
          </a:blip>
          <a:srcRect b="0" l="0" r="0" t="0"/>
          <a:stretch/>
        </p:blipFill>
        <p:spPr>
          <a:xfrm>
            <a:off x="571500" y="3771900"/>
            <a:ext cx="11049000" cy="571500"/>
          </a:xfrm>
          <a:prstGeom prst="rect">
            <a:avLst/>
          </a:prstGeom>
          <a:noFill/>
          <a:ln>
            <a:noFill/>
          </a:ln>
        </p:spPr>
      </p:pic>
      <p:pic>
        <p:nvPicPr>
          <p:cNvPr descr="image.png" id="351" name="Google Shape;351;p26"/>
          <p:cNvPicPr preferRelativeResize="0"/>
          <p:nvPr/>
        </p:nvPicPr>
        <p:blipFill rotWithShape="1">
          <a:blip r:embed="rId4">
            <a:alphaModFix/>
          </a:blip>
          <a:srcRect b="0" l="0" r="0" t="0"/>
          <a:stretch/>
        </p:blipFill>
        <p:spPr>
          <a:xfrm>
            <a:off x="571500" y="4495800"/>
            <a:ext cx="11049000" cy="571500"/>
          </a:xfrm>
          <a:prstGeom prst="rect">
            <a:avLst/>
          </a:prstGeom>
          <a:noFill/>
          <a:ln>
            <a:noFill/>
          </a:ln>
        </p:spPr>
      </p:pic>
      <p:pic>
        <p:nvPicPr>
          <p:cNvPr descr="image.png" id="352" name="Google Shape;352;p26"/>
          <p:cNvPicPr preferRelativeResize="0"/>
          <p:nvPr/>
        </p:nvPicPr>
        <p:blipFill rotWithShape="1">
          <a:blip r:embed="rId6">
            <a:alphaModFix/>
          </a:blip>
          <a:srcRect b="0" l="0" r="0" t="0"/>
          <a:stretch/>
        </p:blipFill>
        <p:spPr>
          <a:xfrm>
            <a:off x="771525" y="1476375"/>
            <a:ext cx="266700" cy="266700"/>
          </a:xfrm>
          <a:prstGeom prst="rect">
            <a:avLst/>
          </a:prstGeom>
          <a:noFill/>
          <a:ln>
            <a:noFill/>
          </a:ln>
        </p:spPr>
      </p:pic>
      <p:pic>
        <p:nvPicPr>
          <p:cNvPr descr="image.png" id="353" name="Google Shape;353;p26"/>
          <p:cNvPicPr preferRelativeResize="0"/>
          <p:nvPr/>
        </p:nvPicPr>
        <p:blipFill rotWithShape="1">
          <a:blip r:embed="rId7">
            <a:alphaModFix/>
          </a:blip>
          <a:srcRect b="0" l="0" r="0" t="0"/>
          <a:stretch/>
        </p:blipFill>
        <p:spPr>
          <a:xfrm>
            <a:off x="771525" y="2200275"/>
            <a:ext cx="266700" cy="266700"/>
          </a:xfrm>
          <a:prstGeom prst="rect">
            <a:avLst/>
          </a:prstGeom>
          <a:noFill/>
          <a:ln>
            <a:noFill/>
          </a:ln>
        </p:spPr>
      </p:pic>
      <p:pic>
        <p:nvPicPr>
          <p:cNvPr descr="image.png" id="354" name="Google Shape;354;p26"/>
          <p:cNvPicPr preferRelativeResize="0"/>
          <p:nvPr/>
        </p:nvPicPr>
        <p:blipFill rotWithShape="1">
          <a:blip r:embed="rId8">
            <a:alphaModFix/>
          </a:blip>
          <a:srcRect b="0" l="0" r="0" t="0"/>
          <a:stretch/>
        </p:blipFill>
        <p:spPr>
          <a:xfrm>
            <a:off x="771525" y="3067050"/>
            <a:ext cx="266700" cy="266700"/>
          </a:xfrm>
          <a:prstGeom prst="rect">
            <a:avLst/>
          </a:prstGeom>
          <a:noFill/>
          <a:ln>
            <a:noFill/>
          </a:ln>
        </p:spPr>
      </p:pic>
      <p:pic>
        <p:nvPicPr>
          <p:cNvPr descr="image.png" id="355" name="Google Shape;355;p26"/>
          <p:cNvPicPr preferRelativeResize="0"/>
          <p:nvPr/>
        </p:nvPicPr>
        <p:blipFill rotWithShape="1">
          <a:blip r:embed="rId9">
            <a:alphaModFix/>
          </a:blip>
          <a:srcRect b="0" l="0" r="0" t="0"/>
          <a:stretch/>
        </p:blipFill>
        <p:spPr>
          <a:xfrm>
            <a:off x="771525" y="3933825"/>
            <a:ext cx="266700" cy="266700"/>
          </a:xfrm>
          <a:prstGeom prst="rect">
            <a:avLst/>
          </a:prstGeom>
          <a:noFill/>
          <a:ln>
            <a:noFill/>
          </a:ln>
        </p:spPr>
      </p:pic>
      <p:pic>
        <p:nvPicPr>
          <p:cNvPr descr="image.png" id="356" name="Google Shape;356;p26"/>
          <p:cNvPicPr preferRelativeResize="0"/>
          <p:nvPr/>
        </p:nvPicPr>
        <p:blipFill rotWithShape="1">
          <a:blip r:embed="rId10">
            <a:alphaModFix/>
          </a:blip>
          <a:srcRect b="0" l="0" r="0" t="0"/>
          <a:stretch/>
        </p:blipFill>
        <p:spPr>
          <a:xfrm>
            <a:off x="771525" y="4657725"/>
            <a:ext cx="266700" cy="266700"/>
          </a:xfrm>
          <a:prstGeom prst="rect">
            <a:avLst/>
          </a:prstGeom>
          <a:noFill/>
          <a:ln>
            <a:noFill/>
          </a:ln>
        </p:spPr>
      </p:pic>
      <p:sp>
        <p:nvSpPr>
          <p:cNvPr id="357" name="Google Shape;357;p26"/>
          <p:cNvSpPr txBox="1"/>
          <p:nvPr/>
        </p:nvSpPr>
        <p:spPr>
          <a:xfrm>
            <a:off x="571500" y="476250"/>
            <a:ext cx="1920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9477C"/>
                </a:solidFill>
                <a:latin typeface="Merriweather"/>
                <a:ea typeface="Merriweather"/>
                <a:cs typeface="Merriweather"/>
                <a:sym typeface="Merriweather"/>
              </a:rPr>
              <a:t>References</a:t>
            </a:r>
            <a:endParaRPr/>
          </a:p>
        </p:txBody>
      </p:sp>
      <p:sp>
        <p:nvSpPr>
          <p:cNvPr id="358" name="Google Shape;358;p26"/>
          <p:cNvSpPr/>
          <p:nvPr/>
        </p:nvSpPr>
        <p:spPr>
          <a:xfrm>
            <a:off x="571500" y="1000125"/>
            <a:ext cx="1828800" cy="28575"/>
          </a:xfrm>
          <a:prstGeom prst="rect">
            <a:avLst/>
          </a:prstGeom>
          <a:solidFill>
            <a:srgbClr val="0947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6"/>
          <p:cNvSpPr txBox="1"/>
          <p:nvPr/>
        </p:nvSpPr>
        <p:spPr>
          <a:xfrm>
            <a:off x="1228725" y="1457325"/>
            <a:ext cx="11049000" cy="2310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500" u="none" cap="none" strike="noStrike">
                <a:solidFill>
                  <a:srgbClr val="09477C"/>
                </a:solidFill>
                <a:latin typeface="DM Sans Medium"/>
                <a:ea typeface="DM Sans Medium"/>
                <a:cs typeface="DM Sans Medium"/>
                <a:sym typeface="DM Sans Medium"/>
              </a:rPr>
              <a:t>Alex Nichol, Joshua Achiam, and John Schulman.</a:t>
            </a:r>
            <a:r>
              <a:rPr b="0" i="0" lang="en-US" sz="1500" u="none" cap="none" strike="noStrike">
                <a:solidFill>
                  <a:srgbClr val="1E293B"/>
                </a:solidFill>
                <a:latin typeface="DM Sans"/>
                <a:ea typeface="DM Sans"/>
                <a:cs typeface="DM Sans"/>
                <a:sym typeface="DM Sans"/>
              </a:rPr>
              <a:t> </a:t>
            </a:r>
            <a:r>
              <a:rPr b="0" i="1" lang="en-US" sz="1500" u="none" cap="none" strike="noStrike">
                <a:solidFill>
                  <a:srgbClr val="0F172A"/>
                </a:solidFill>
                <a:latin typeface="DM Sans"/>
                <a:ea typeface="DM Sans"/>
                <a:cs typeface="DM Sans"/>
                <a:sym typeface="DM Sans"/>
              </a:rPr>
              <a:t>On First-Order Meta-Learning Algorithms.</a:t>
            </a:r>
            <a:r>
              <a:rPr b="0" i="0" lang="en-US" sz="1500" u="none" cap="none" strike="noStrike">
                <a:solidFill>
                  <a:srgbClr val="1E293B"/>
                </a:solidFill>
                <a:latin typeface="DM Sans"/>
                <a:ea typeface="DM Sans"/>
                <a:cs typeface="DM Sans"/>
                <a:sym typeface="DM Sans"/>
              </a:rPr>
              <a:t> </a:t>
            </a:r>
            <a:r>
              <a:rPr b="0" i="0" lang="en-US" sz="1500" u="none" cap="none" strike="noStrike">
                <a:solidFill>
                  <a:srgbClr val="64748B"/>
                </a:solidFill>
                <a:latin typeface="DM Sans"/>
                <a:ea typeface="DM Sans"/>
                <a:cs typeface="DM Sans"/>
                <a:sym typeface="DM Sans"/>
              </a:rPr>
              <a:t>OpenAI, arXiv:1803.02999, 2018.</a:t>
            </a:r>
            <a:endParaRPr sz="1500"/>
          </a:p>
        </p:txBody>
      </p:sp>
      <p:sp>
        <p:nvSpPr>
          <p:cNvPr id="360" name="Google Shape;360;p26"/>
          <p:cNvSpPr txBox="1"/>
          <p:nvPr/>
        </p:nvSpPr>
        <p:spPr>
          <a:xfrm>
            <a:off x="1228725" y="2181225"/>
            <a:ext cx="10838100" cy="5868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525" u="none" cap="none" strike="noStrike">
                <a:solidFill>
                  <a:srgbClr val="09477C"/>
                </a:solidFill>
                <a:latin typeface="DM Sans Medium"/>
                <a:ea typeface="DM Sans Medium"/>
                <a:cs typeface="DM Sans Medium"/>
                <a:sym typeface="DM Sans Medium"/>
              </a:rPr>
              <a:t>Chelsea Finn, Pieter Abbeel, and Sergey Levine.</a:t>
            </a:r>
            <a:r>
              <a:rPr b="0" i="0" lang="en-US" sz="1525" u="none" cap="none" strike="noStrike">
                <a:solidFill>
                  <a:srgbClr val="1E293B"/>
                </a:solidFill>
                <a:latin typeface="DM Sans"/>
                <a:ea typeface="DM Sans"/>
                <a:cs typeface="DM Sans"/>
                <a:sym typeface="DM Sans"/>
              </a:rPr>
              <a:t> </a:t>
            </a:r>
            <a:r>
              <a:rPr b="0" i="1" lang="en-US" sz="1525" u="none" cap="none" strike="noStrike">
                <a:solidFill>
                  <a:srgbClr val="0F172A"/>
                </a:solidFill>
                <a:latin typeface="DM Sans"/>
                <a:ea typeface="DM Sans"/>
                <a:cs typeface="DM Sans"/>
                <a:sym typeface="DM Sans"/>
              </a:rPr>
              <a:t>Model-Agnostic Meta-Learning for Fast Adaptation of Deep Networks.</a:t>
            </a:r>
            <a:r>
              <a:rPr b="0" i="0" lang="en-US" sz="1525" u="none" cap="none" strike="noStrike">
                <a:solidFill>
                  <a:srgbClr val="1E293B"/>
                </a:solidFill>
                <a:latin typeface="DM Sans"/>
                <a:ea typeface="DM Sans"/>
                <a:cs typeface="DM Sans"/>
                <a:sym typeface="DM Sans"/>
              </a:rPr>
              <a:t> </a:t>
            </a:r>
            <a:r>
              <a:rPr b="0" i="0" lang="en-US" sz="1525" u="none" cap="none" strike="noStrike">
                <a:solidFill>
                  <a:srgbClr val="64748B"/>
                </a:solidFill>
                <a:latin typeface="DM Sans"/>
                <a:ea typeface="DM Sans"/>
                <a:cs typeface="DM Sans"/>
                <a:sym typeface="DM Sans"/>
              </a:rPr>
              <a:t>International Conference on Machine Learning (ICML), 2017.</a:t>
            </a:r>
            <a:endParaRPr sz="1800"/>
          </a:p>
        </p:txBody>
      </p:sp>
      <p:sp>
        <p:nvSpPr>
          <p:cNvPr id="361" name="Google Shape;361;p26"/>
          <p:cNvSpPr txBox="1"/>
          <p:nvPr/>
        </p:nvSpPr>
        <p:spPr>
          <a:xfrm>
            <a:off x="1228725" y="3048000"/>
            <a:ext cx="10191900" cy="5868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525" u="none" cap="none" strike="noStrike">
                <a:solidFill>
                  <a:srgbClr val="09477C"/>
                </a:solidFill>
                <a:latin typeface="DM Sans Medium"/>
                <a:ea typeface="DM Sans Medium"/>
                <a:cs typeface="DM Sans Medium"/>
                <a:sym typeface="DM Sans Medium"/>
              </a:rPr>
              <a:t>Brenden M. Lake, Ruslan Salakhutdinov, Jason Gross, and Joshua B. Tenenbaum.</a:t>
            </a:r>
            <a:r>
              <a:rPr b="0" i="0" lang="en-US" sz="1525" u="none" cap="none" strike="noStrike">
                <a:solidFill>
                  <a:srgbClr val="1E293B"/>
                </a:solidFill>
                <a:latin typeface="DM Sans"/>
                <a:ea typeface="DM Sans"/>
                <a:cs typeface="DM Sans"/>
                <a:sym typeface="DM Sans"/>
              </a:rPr>
              <a:t> </a:t>
            </a:r>
            <a:r>
              <a:rPr b="0" i="1" lang="en-US" sz="1525" u="none" cap="none" strike="noStrike">
                <a:solidFill>
                  <a:srgbClr val="0F172A"/>
                </a:solidFill>
                <a:latin typeface="DM Sans"/>
                <a:ea typeface="DM Sans"/>
                <a:cs typeface="DM Sans"/>
                <a:sym typeface="DM Sans"/>
              </a:rPr>
              <a:t>One Shot Learning of Simple Visual Concepts.</a:t>
            </a:r>
            <a:r>
              <a:rPr b="0" i="0" lang="en-US" sz="1525" u="none" cap="none" strike="noStrike">
                <a:solidFill>
                  <a:srgbClr val="1E293B"/>
                </a:solidFill>
                <a:latin typeface="DM Sans"/>
                <a:ea typeface="DM Sans"/>
                <a:cs typeface="DM Sans"/>
                <a:sym typeface="DM Sans"/>
              </a:rPr>
              <a:t> </a:t>
            </a:r>
            <a:r>
              <a:rPr b="0" i="0" lang="en-US" sz="1525" u="none" cap="none" strike="noStrike">
                <a:solidFill>
                  <a:srgbClr val="64748B"/>
                </a:solidFill>
                <a:latin typeface="DM Sans"/>
                <a:ea typeface="DM Sans"/>
                <a:cs typeface="DM Sans"/>
                <a:sym typeface="DM Sans"/>
              </a:rPr>
              <a:t>Proceedings of the Annual Meeting of the Cognitive Science Society, 2011.</a:t>
            </a:r>
            <a:endParaRPr sz="1800"/>
          </a:p>
        </p:txBody>
      </p:sp>
      <p:sp>
        <p:nvSpPr>
          <p:cNvPr id="362" name="Google Shape;362;p26"/>
          <p:cNvSpPr txBox="1"/>
          <p:nvPr/>
        </p:nvSpPr>
        <p:spPr>
          <a:xfrm>
            <a:off x="1228725" y="3843585"/>
            <a:ext cx="10191900" cy="5772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i="0" lang="en-US" sz="1500" u="none" cap="none" strike="noStrike">
                <a:solidFill>
                  <a:srgbClr val="09477C"/>
                </a:solidFill>
                <a:latin typeface="DM Sans Medium"/>
                <a:ea typeface="DM Sans Medium"/>
                <a:cs typeface="DM Sans Medium"/>
                <a:sym typeface="DM Sans Medium"/>
              </a:rPr>
              <a:t>Diederik P. Kingma and Jimmy Ba.</a:t>
            </a:r>
            <a:r>
              <a:rPr i="0" lang="en-US" sz="1500" u="none" cap="none" strike="noStrike">
                <a:solidFill>
                  <a:srgbClr val="1E293B"/>
                </a:solidFill>
                <a:latin typeface="DM Sans"/>
                <a:ea typeface="DM Sans"/>
                <a:cs typeface="DM Sans"/>
                <a:sym typeface="DM Sans"/>
              </a:rPr>
              <a:t> </a:t>
            </a:r>
            <a:r>
              <a:rPr i="1" lang="en-US" sz="1500" u="none" cap="none" strike="noStrike">
                <a:solidFill>
                  <a:srgbClr val="0F172A"/>
                </a:solidFill>
                <a:latin typeface="DM Sans"/>
                <a:ea typeface="DM Sans"/>
                <a:cs typeface="DM Sans"/>
                <a:sym typeface="DM Sans"/>
              </a:rPr>
              <a:t>Adam: A Method for Stochastic Optimization.</a:t>
            </a:r>
            <a:r>
              <a:rPr i="0" lang="en-US" sz="1500" u="none" cap="none" strike="noStrike">
                <a:solidFill>
                  <a:srgbClr val="1E293B"/>
                </a:solidFill>
                <a:latin typeface="DM Sans"/>
                <a:ea typeface="DM Sans"/>
                <a:cs typeface="DM Sans"/>
                <a:sym typeface="DM Sans"/>
              </a:rPr>
              <a:t> </a:t>
            </a:r>
            <a:r>
              <a:rPr i="0" lang="en-US" sz="1500" u="none" cap="none" strike="noStrike">
                <a:solidFill>
                  <a:srgbClr val="64748B"/>
                </a:solidFill>
                <a:latin typeface="DM Sans"/>
                <a:ea typeface="DM Sans"/>
                <a:cs typeface="DM Sans"/>
                <a:sym typeface="DM Sans"/>
              </a:rPr>
              <a:t>International Conference on Learning Representations (ICLR), 2015.</a:t>
            </a:r>
            <a:endParaRPr sz="1500"/>
          </a:p>
        </p:txBody>
      </p:sp>
      <p:sp>
        <p:nvSpPr>
          <p:cNvPr id="363" name="Google Shape;363;p26"/>
          <p:cNvSpPr txBox="1"/>
          <p:nvPr/>
        </p:nvSpPr>
        <p:spPr>
          <a:xfrm>
            <a:off x="1228725" y="4638675"/>
            <a:ext cx="8904000" cy="2310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500" u="none" cap="none" strike="noStrike">
                <a:solidFill>
                  <a:srgbClr val="09477C"/>
                </a:solidFill>
                <a:latin typeface="DM Sans Medium"/>
                <a:ea typeface="DM Sans Medium"/>
                <a:cs typeface="DM Sans Medium"/>
                <a:sym typeface="DM Sans Medium"/>
              </a:rPr>
              <a:t>Vitaly Kurin.</a:t>
            </a:r>
            <a:r>
              <a:rPr b="0" i="0" lang="en-US" sz="1500" u="none" cap="none" strike="noStrike">
                <a:solidFill>
                  <a:srgbClr val="1E293B"/>
                </a:solidFill>
                <a:latin typeface="DM Sans"/>
                <a:ea typeface="DM Sans"/>
                <a:cs typeface="DM Sans"/>
                <a:sym typeface="DM Sans"/>
              </a:rPr>
              <a:t> </a:t>
            </a:r>
            <a:r>
              <a:rPr b="0" i="1" lang="en-US" sz="1500" u="none" cap="none" strike="noStrike">
                <a:solidFill>
                  <a:srgbClr val="0F172A"/>
                </a:solidFill>
                <a:latin typeface="DM Sans"/>
                <a:ea typeface="DM Sans"/>
                <a:cs typeface="DM Sans"/>
                <a:sym typeface="DM Sans"/>
              </a:rPr>
              <a:t>Reptile: A Scalable Meta-learning Algorithm.</a:t>
            </a:r>
            <a:r>
              <a:rPr b="0" i="0" lang="en-US" sz="1500" u="none" cap="none" strike="noStrike">
                <a:solidFill>
                  <a:srgbClr val="1E293B"/>
                </a:solidFill>
                <a:latin typeface="DM Sans"/>
                <a:ea typeface="DM Sans"/>
                <a:cs typeface="DM Sans"/>
                <a:sym typeface="DM Sans"/>
              </a:rPr>
              <a:t> </a:t>
            </a:r>
            <a:r>
              <a:rPr b="0" i="0" lang="en-US" sz="1500" u="none" cap="none" strike="noStrike">
                <a:solidFill>
                  <a:srgbClr val="64748B"/>
                </a:solidFill>
                <a:latin typeface="DM Sans"/>
                <a:ea typeface="DM Sans"/>
                <a:cs typeface="DM Sans"/>
                <a:sym typeface="DM Sans"/>
              </a:rPr>
              <a:t>Lecture note / summary, 2018.</a:t>
            </a:r>
            <a:endParaRPr sz="1500"/>
          </a:p>
        </p:txBody>
      </p:sp>
      <p:sp>
        <p:nvSpPr>
          <p:cNvPr id="364" name="Google Shape;364;p26"/>
          <p:cNvSpPr txBox="1"/>
          <p:nvPr/>
        </p:nvSpPr>
        <p:spPr>
          <a:xfrm>
            <a:off x="2681500" y="5813875"/>
            <a:ext cx="6964800" cy="71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solidFill>
                  <a:srgbClr val="09477C"/>
                </a:solidFill>
                <a:latin typeface="Comic Sans MS"/>
                <a:ea typeface="Comic Sans MS"/>
                <a:cs typeface="Comic Sans MS"/>
                <a:sym typeface="Comic Sans MS"/>
              </a:rPr>
              <a:t>Thank you</a:t>
            </a:r>
            <a:endParaRPr sz="3200">
              <a:solidFill>
                <a:srgbClr val="09477C"/>
              </a:solidFill>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